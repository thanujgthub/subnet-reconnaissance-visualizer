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a:defRPr sz="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Opening: My project is SubnetScope, an educational Computer Networks application. It makes subnet calculations and TCP port outcomes visible step by step. There are two parts: an interactive website with a clearly marked simulation, and a separate Node.js tool for real, authorized local TCP testing. I will first explain the networking concepts, then the workflow, and finally demonstrate both lab tabs. Suggested total presentation time: 7 to 9 minutes.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Explain a small college lab or office. An administrator needs to know the allowed address range, which addresses respond to a selected check, and whether an expected service accepts a TCP connection. Repeating this manually is tedious and inconsistent. Automation applies the same validation, limits, timeout, and classification rules to every candidate. This project teaches that workflow; it does not claim that every silent device is offline or that an open service is secure.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A network connects devices so they can exchange information. A host is a device participating in that network. Its IP address identifies a network interface in the relevant network context. A TCP port is a numbered endpoint used for connections to a service. A useful analogy is a building address and a room number, although networking has more details. Here 192.168.1.2 is a sample host, and port 443 conventionally suggests HTTPS. A port number alone does not prove the application.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IPv4 has four octets, with eight bits in each octet. In 192.168.1.0/24, the first 24 bits identify the network and the remaining 8 bits identify positions within it. There are 2 to the power of 8, or 256 total addresses. In this conventional subnet, the network and broadcast addresses are reserved, leaving 254 usable hosts. This subtraction is not applied blindly: an RFC 3021 point-to-point /31 has two endpoints, and a /32 represents one address. The calculator implements these cases.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Walk from left to right. Prefix 29 leaves 3 host bits, so 2 to the power of 3 gives 8 addresses. The subnet mask is 255.255.255.248. The network address is 192.168.1.0 and the broadcast address is 192.168.1.7. The six conventional usable hosts run from 192.168.1.1 to 192.168.1.6. The Subnet Explorer computes these values dynamically. It also accepts a host address with a prefix and shows the calculated network. The scanner is stricter: it requires the explicit canonical network CIDR.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Read this flow across the top row and then across the bottom. Authorized input supplies the exact intended target. Validation rejects malformed or disallowed input. Subnet calculation gives the boundaries; candidate generation lists the eligible addresses. Discovery records the response to a chosen check. TCP profiling attempts the selected ports, classification interprets the outcome, and the report summarizes it. In the website, discovery and TCP outcomes are deterministic examples. The real CLI probes every permitted candidate directly, so a separate discovery gate cannot hide a silent host. Its report is a console table and optional local JSON.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A candidate is simply an address eligible for testing. It is not proof that a device exists there. A responsive host has answered a particular discovery check. A confirmed TCP endpoint has accepted a connection to a particular port at that time. The demo contains six candidates and four illustrative discovery responders. Those numbers are simulated examples, not measured inventory. Real hosts can ignore probes because of policy, firewall rules, packet loss, or routing problems. Therefore no response is inconclusive.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A TCP connection normally starts with a handshake. If the operating system reports that the connection was accepted, the port is open for that attempt. An explicit connection refusal is classified as closed. If the timeout expires with no conclusive result, the label is filtered or no response; this is not proof that a firewall caused it. Other failures are error or unknown. Common port numbers suggest conventions: SSH often uses 22, HTTP 80 and HTTPS 443. DNS can use TCP 53 as well as UDP, but this utility checks TCP only. It does not fingerprint applications or evaluate security.</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The website is a Next.js application using React, strict TypeScript, CSS, SVG, and a native WebGL topology. Subnet calculations run in the browser. The public port lab reads deterministic sample events and presents classifications and summaries. It does not send scans. The local Node.js CLI reuses IPv4 calculations and applies stricter scope validation before opening bounded TCP sockets. It classifies actual socket outcomes and prints a table, with optional local JSON. No database, external result collection, or public arbitrary-target scan API is used.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First open Subnet Explorer, calculate 192.168.1.0/24, and explain the 256 total versus 254 usable addresses. Change to /29 and show the six usable hosts. Briefly select /31 or /32 to explain the edge cases. Then open Port Profiling Lab and press Start Demo. Observe candidate checks, discovery responses, and TCP event classifications. Inspect one result, filter by a state, sort a column, and press Reset. The complete deterministic sample has 36 port results: 6 open, 17 closed, 12 no response, and 1 unknown. These are teaching data, not network measurements.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The local utility accepts only explicit RFC 1918 private IPv4 networks or loopback, with an authorization flag required to send probes. It rejects public, unspecified, multicast, broadcast, and other disallowed scope. The exact requested canonical CIDR is preserved; it is never silently expanded. A single run has at most fourteen candidate usable addresses, at most sixteen concurrent connection attempts, and bounded 100 to 2000 millisecond timeouts. Allowed ports are 22, 53, 80, 443, 3306, 5432, and 8080. A dry run shows the plan without connections. The example below uses only your own loopback machine. Get permission before testing any other lab.</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600000" y="3000000"/>
            <a:ext cx="5658000" cy="5000000"/>
          </a:xfrm>
          <a:prstGeom prst="rect">
            <a:avLst/>
          </a:prstGeom>
        </p:spPr>
        <p:txBody>
          <a:bodyPr/>
          <a:lstStyle/>
          <a:p>
            <a:r>
              <a:rPr lang="en-US" sz="1200"/>
              <a:t>Close by stating what works: a responsive educational website with an interactive 3D topology, a correct IPv4/CIDR calculator, a transparent deterministic port lab, and a restricted actual TCP CLI. Recorded local verification passed twenty-four unit and safety tests, thirteen browser verification groups, linting, strict type checking, and a production build. These are software checks, not performance or security benchmarks. Limitations remain: timeouts and failed discovery are inconclusive, services can move from conventional ports, and an open port is not a vulnerability finding. References for theory: RFC 1918 private IPv4, RFC 3021 /31 links, and RFC 9293 TCP. Suggested final sentence: We made the reconnaissance workflow visible, testable, and safe to demonstrate.</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ubnetScope">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SubnetScope</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Automated Subnet Reconnaissance</a:t>
            </a:r>
            <a:endParaRPr lang="en-US" sz="1725"/>
          </a:p>
          <a:p>
            <a:pPr>
              <a:lnSpc>
                <a:spcPts val="2070"/>
              </a:lnSpc>
              <a:spcBef>
                <a:spcPts val="0"/>
              </a:spcBef>
              <a:spcAft>
                <a:spcPts val="0"/>
              </a:spcAft>
            </a:pPr>
            <a:r>
              <a:rPr lang="en-US" sz="1725" b="0">
                <a:solidFill>
                  <a:srgbClr val="A7BBD0"/>
                </a:solidFill>
                <a:latin typeface="Arial"/>
              </a:rPr>
              <a:t>and Port Status Profiling</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01 / 12</a:t>
            </a:r>
            <a:endParaRPr lang="en-US" sz="1200"/>
          </a:p>
        </p:txBody>
      </p:sp>
      <p:sp>
        <p:nvSpPr>
          <p:cNvPr id="9" name="Text 9"/>
          <p:cNvSpPr txBox="1"/>
          <p:nvPr/>
        </p:nvSpPr>
        <p:spPr>
          <a:xfrm>
            <a:off x="609600" y="2676525"/>
            <a:ext cx="5857875" cy="1400175"/>
          </a:xfrm>
          <a:prstGeom prst="rect">
            <a:avLst/>
          </a:prstGeom>
          <a:noFill/>
          <a:ln>
            <a:noFill/>
          </a:ln>
        </p:spPr>
        <p:txBody>
          <a:bodyPr wrap="none" lIns="0" tIns="0" rIns="0" bIns="0" anchor="t">
            <a:noAutofit/>
          </a:bodyPr>
          <a:lstStyle/>
          <a:p>
            <a:pPr>
              <a:lnSpc>
                <a:spcPts val="3600"/>
              </a:lnSpc>
              <a:spcBef>
                <a:spcPts val="0"/>
              </a:spcBef>
              <a:spcAft>
                <a:spcPts val="0"/>
              </a:spcAft>
            </a:pPr>
            <a:r>
              <a:rPr lang="en-US" sz="3000" b="1">
                <a:solidFill>
                  <a:srgbClr val="EEF6FF"/>
                </a:solidFill>
                <a:latin typeface="Arial"/>
              </a:rPr>
              <a:t>Understand the subnet.</a:t>
            </a:r>
            <a:endParaRPr lang="en-US" sz="3000"/>
          </a:p>
          <a:p>
            <a:pPr>
              <a:lnSpc>
                <a:spcPts val="3600"/>
              </a:lnSpc>
              <a:spcBef>
                <a:spcPts val="0"/>
              </a:spcBef>
              <a:spcAft>
                <a:spcPts val="0"/>
              </a:spcAft>
            </a:pPr>
            <a:r>
              <a:rPr lang="en-US" sz="3000" b="1">
                <a:solidFill>
                  <a:srgbClr val="EEF6FF"/>
                </a:solidFill>
                <a:latin typeface="Arial"/>
              </a:rPr>
              <a:t>Discover the hosts.</a:t>
            </a:r>
            <a:endParaRPr lang="en-US" sz="3000"/>
          </a:p>
          <a:p>
            <a:pPr>
              <a:lnSpc>
                <a:spcPts val="3600"/>
              </a:lnSpc>
              <a:spcBef>
                <a:spcPts val="0"/>
              </a:spcBef>
              <a:spcAft>
                <a:spcPts val="0"/>
              </a:spcAft>
            </a:pPr>
            <a:r>
              <a:rPr lang="en-US" sz="3000" b="1">
                <a:solidFill>
                  <a:srgbClr val="EEF6FF"/>
                </a:solidFill>
                <a:latin typeface="Arial"/>
              </a:rPr>
              <a:t>Interpret the ports.</a:t>
            </a:r>
            <a:endParaRPr lang="en-US" sz="3000"/>
          </a:p>
        </p:txBody>
      </p:sp>
      <p:sp>
        <p:nvSpPr>
          <p:cNvPr id="10" name="Text 10"/>
          <p:cNvSpPr txBox="1"/>
          <p:nvPr/>
        </p:nvSpPr>
        <p:spPr>
          <a:xfrm>
            <a:off x="609600" y="4552950"/>
            <a:ext cx="5715000" cy="647700"/>
          </a:xfrm>
          <a:prstGeom prst="rect">
            <a:avLst/>
          </a:prstGeom>
          <a:noFill/>
          <a:ln>
            <a:noFill/>
          </a:ln>
        </p:spPr>
        <p:txBody>
          <a:bodyPr wrap="none" lIns="0" tIns="0" rIns="0" bIns="0" anchor="t">
            <a:noAutofit/>
          </a:bodyPr>
          <a:lstStyle/>
          <a:p>
            <a:pPr>
              <a:lnSpc>
                <a:spcPts val="2250"/>
              </a:lnSpc>
              <a:spcBef>
                <a:spcPts val="0"/>
              </a:spcBef>
              <a:spcAft>
                <a:spcPts val="0"/>
              </a:spcAft>
            </a:pPr>
            <a:r>
              <a:rPr lang="en-US" sz="1875" b="0">
                <a:solidFill>
                  <a:srgbClr val="A7BBD0"/>
                </a:solidFill>
                <a:latin typeface="Arial"/>
              </a:rPr>
              <a:t>An interactive learning lab with a separate,</a:t>
            </a:r>
            <a:endParaRPr lang="en-US" sz="1875"/>
          </a:p>
          <a:p>
            <a:pPr>
              <a:lnSpc>
                <a:spcPts val="2250"/>
              </a:lnSpc>
              <a:spcBef>
                <a:spcPts val="0"/>
              </a:spcBef>
              <a:spcAft>
                <a:spcPts val="0"/>
              </a:spcAft>
            </a:pPr>
            <a:r>
              <a:rPr lang="en-US" sz="1875" b="0">
                <a:solidFill>
                  <a:srgbClr val="A7BBD0"/>
                </a:solidFill>
                <a:latin typeface="Arial"/>
              </a:rPr>
              <a:t>restricted local TCP utility.</a:t>
            </a:r>
            <a:endParaRPr lang="en-US" sz="1875"/>
          </a:p>
        </p:txBody>
      </p:sp>
      <p:sp>
        <p:nvSpPr>
          <p:cNvPr id="11" name="Shape 11"/>
          <p:cNvSpPr/>
          <p:nvPr/>
        </p:nvSpPr>
        <p:spPr>
          <a:xfrm>
            <a:off x="609600" y="5619750"/>
            <a:ext cx="5010150" cy="457200"/>
          </a:xfrm>
          <a:prstGeom prst="roundRect">
            <a:avLst/>
          </a:prstGeom>
          <a:solidFill>
            <a:srgbClr val="122E40"/>
          </a:solidFill>
          <a:ln>
            <a:noFill/>
          </a:ln>
        </p:spPr>
      </p:sp>
      <p:sp>
        <p:nvSpPr>
          <p:cNvPr id="12" name="Text 12"/>
          <p:cNvSpPr txBox="1"/>
          <p:nvPr/>
        </p:nvSpPr>
        <p:spPr>
          <a:xfrm>
            <a:off x="781050" y="5734050"/>
            <a:ext cx="4667250" cy="266700"/>
          </a:xfrm>
          <a:prstGeom prst="rect">
            <a:avLst/>
          </a:prstGeom>
          <a:noFill/>
          <a:ln>
            <a:noFill/>
          </a:ln>
        </p:spPr>
        <p:txBody>
          <a:bodyPr wrap="none" lIns="0" tIns="0" rIns="0" bIns="0" anchor="t">
            <a:noAutofit/>
          </a:bodyPr>
          <a:lstStyle/>
          <a:p>
            <a:pPr>
              <a:lnSpc>
                <a:spcPts val="1710"/>
              </a:lnSpc>
              <a:spcBef>
                <a:spcPts val="0"/>
              </a:spcBef>
              <a:spcAft>
                <a:spcPts val="0"/>
              </a:spcAft>
            </a:pPr>
            <a:r>
              <a:rPr lang="en-US" sz="1425" b="1">
                <a:solidFill>
                  <a:srgbClr val="53DEEA"/>
                </a:solidFill>
                <a:latin typeface="Arial"/>
              </a:rPr>
              <a:t>WEBSITE DEMO + AUTHORIZED LOCAL CLI</a:t>
            </a:r>
            <a:endParaRPr lang="en-US" sz="1425"/>
          </a:p>
        </p:txBody>
      </p:sp>
      <p:cxnSp>
        <p:nvCxnSpPr>
          <p:cNvPr id="13" name="Connection 13"/>
          <p:cNvCxnSpPr/>
          <p:nvPr/>
        </p:nvCxnSpPr>
        <p:spPr>
          <a:xfrm flipH="1" flipV="1">
            <a:off x="7524750" y="2609850"/>
            <a:ext cx="1419225" cy="1085850"/>
          </a:xfrm>
          <a:prstGeom prst="line">
            <a:avLst/>
          </a:prstGeom>
          <a:ln w="28575">
            <a:solidFill>
              <a:srgbClr val="244059"/>
            </a:solidFill>
          </a:ln>
        </p:spPr>
      </p:cxnSp>
      <p:cxnSp>
        <p:nvCxnSpPr>
          <p:cNvPr id="14" name="Connection 14"/>
          <p:cNvCxnSpPr/>
          <p:nvPr/>
        </p:nvCxnSpPr>
        <p:spPr>
          <a:xfrm flipV="1">
            <a:off x="8943975" y="2657475"/>
            <a:ext cx="1704975" cy="1038225"/>
          </a:xfrm>
          <a:prstGeom prst="line">
            <a:avLst/>
          </a:prstGeom>
          <a:ln w="28575">
            <a:solidFill>
              <a:srgbClr val="244059"/>
            </a:solidFill>
          </a:ln>
        </p:spPr>
      </p:cxnSp>
      <p:cxnSp>
        <p:nvCxnSpPr>
          <p:cNvPr id="15" name="Connection 15"/>
          <p:cNvCxnSpPr/>
          <p:nvPr/>
        </p:nvCxnSpPr>
        <p:spPr>
          <a:xfrm flipH="1">
            <a:off x="7486650" y="3695700"/>
            <a:ext cx="1457325" cy="1143000"/>
          </a:xfrm>
          <a:prstGeom prst="line">
            <a:avLst/>
          </a:prstGeom>
          <a:ln w="28575">
            <a:solidFill>
              <a:srgbClr val="244059"/>
            </a:solidFill>
          </a:ln>
        </p:spPr>
      </p:cxnSp>
      <p:cxnSp>
        <p:nvCxnSpPr>
          <p:cNvPr id="16" name="Connection 16"/>
          <p:cNvCxnSpPr/>
          <p:nvPr/>
        </p:nvCxnSpPr>
        <p:spPr>
          <a:xfrm>
            <a:off x="8943975" y="3695700"/>
            <a:ext cx="1628775" cy="1095375"/>
          </a:xfrm>
          <a:prstGeom prst="line">
            <a:avLst/>
          </a:prstGeom>
          <a:ln w="28575">
            <a:solidFill>
              <a:srgbClr val="244059"/>
            </a:solidFill>
          </a:ln>
        </p:spPr>
      </p:cxnSp>
      <p:sp>
        <p:nvSpPr>
          <p:cNvPr id="17" name="Shape 17"/>
          <p:cNvSpPr/>
          <p:nvPr/>
        </p:nvSpPr>
        <p:spPr>
          <a:xfrm>
            <a:off x="8543925" y="3295650"/>
            <a:ext cx="800100" cy="800100"/>
          </a:xfrm>
          <a:prstGeom prst="ellipse">
            <a:avLst/>
          </a:prstGeom>
          <a:solidFill>
            <a:srgbClr val="53DEEA"/>
          </a:solidFill>
          <a:ln>
            <a:noFill/>
          </a:ln>
        </p:spPr>
      </p:sp>
      <p:sp>
        <p:nvSpPr>
          <p:cNvPr id="18" name="Text 18"/>
          <p:cNvSpPr txBox="1"/>
          <p:nvPr/>
        </p:nvSpPr>
        <p:spPr>
          <a:xfrm>
            <a:off x="8553450" y="3590925"/>
            <a:ext cx="781050" cy="2762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1">
                <a:solidFill>
                  <a:srgbClr val="081321"/>
                </a:solidFill>
                <a:latin typeface="Arial"/>
              </a:rPr>
              <a:t>LAN</a:t>
            </a:r>
            <a:endParaRPr lang="en-US" sz="1800"/>
          </a:p>
        </p:txBody>
      </p:sp>
      <p:sp>
        <p:nvSpPr>
          <p:cNvPr id="19" name="Shape 19"/>
          <p:cNvSpPr/>
          <p:nvPr/>
        </p:nvSpPr>
        <p:spPr>
          <a:xfrm>
            <a:off x="7372350" y="2457450"/>
            <a:ext cx="304800" cy="304800"/>
          </a:xfrm>
          <a:prstGeom prst="ellipse">
            <a:avLst/>
          </a:prstGeom>
          <a:solidFill>
            <a:srgbClr val="AFA3FF"/>
          </a:solidFill>
          <a:ln>
            <a:noFill/>
          </a:ln>
        </p:spPr>
      </p:sp>
      <p:sp>
        <p:nvSpPr>
          <p:cNvPr id="20" name="Text 20"/>
          <p:cNvSpPr txBox="1"/>
          <p:nvPr/>
        </p:nvSpPr>
        <p:spPr>
          <a:xfrm>
            <a:off x="6810375" y="2857500"/>
            <a:ext cx="1428750" cy="238125"/>
          </a:xfrm>
          <a:prstGeom prst="rect">
            <a:avLst/>
          </a:prstGeom>
          <a:noFill/>
          <a:ln>
            <a:noFill/>
          </a:ln>
        </p:spPr>
        <p:txBody>
          <a:bodyPr wrap="none" lIns="0" tIns="0" rIns="0" bIns="0" anchor="t">
            <a:noAutofit/>
          </a:bodyPr>
          <a:lstStyle/>
          <a:p>
            <a:pPr>
              <a:lnSpc>
                <a:spcPts val="1620"/>
              </a:lnSpc>
              <a:spcBef>
                <a:spcPts val="0"/>
              </a:spcBef>
              <a:spcAft>
                <a:spcPts val="0"/>
              </a:spcAft>
            </a:pPr>
            <a:r>
              <a:rPr lang="en-US" sz="1350" b="0">
                <a:solidFill>
                  <a:srgbClr val="A7BBD0"/>
                </a:solidFill>
                <a:latin typeface="Consolas"/>
              </a:rPr>
              <a:t>192.168.1.1</a:t>
            </a:r>
            <a:endParaRPr lang="en-US" sz="1350"/>
          </a:p>
        </p:txBody>
      </p:sp>
      <p:sp>
        <p:nvSpPr>
          <p:cNvPr id="21" name="Shape 21"/>
          <p:cNvSpPr/>
          <p:nvPr/>
        </p:nvSpPr>
        <p:spPr>
          <a:xfrm>
            <a:off x="10496550" y="2505075"/>
            <a:ext cx="304800" cy="304800"/>
          </a:xfrm>
          <a:prstGeom prst="ellipse">
            <a:avLst/>
          </a:prstGeom>
          <a:solidFill>
            <a:srgbClr val="AFA3FF"/>
          </a:solidFill>
          <a:ln>
            <a:noFill/>
          </a:ln>
        </p:spPr>
      </p:sp>
      <p:sp>
        <p:nvSpPr>
          <p:cNvPr id="22" name="Text 22"/>
          <p:cNvSpPr txBox="1"/>
          <p:nvPr/>
        </p:nvSpPr>
        <p:spPr>
          <a:xfrm>
            <a:off x="9934575" y="2905125"/>
            <a:ext cx="1428750" cy="238125"/>
          </a:xfrm>
          <a:prstGeom prst="rect">
            <a:avLst/>
          </a:prstGeom>
          <a:noFill/>
          <a:ln>
            <a:noFill/>
          </a:ln>
        </p:spPr>
        <p:txBody>
          <a:bodyPr wrap="none" lIns="0" tIns="0" rIns="0" bIns="0" anchor="t">
            <a:noAutofit/>
          </a:bodyPr>
          <a:lstStyle/>
          <a:p>
            <a:pPr>
              <a:lnSpc>
                <a:spcPts val="1620"/>
              </a:lnSpc>
              <a:spcBef>
                <a:spcPts val="0"/>
              </a:spcBef>
              <a:spcAft>
                <a:spcPts val="0"/>
              </a:spcAft>
            </a:pPr>
            <a:r>
              <a:rPr lang="en-US" sz="1350" b="0">
                <a:solidFill>
                  <a:srgbClr val="A7BBD0"/>
                </a:solidFill>
                <a:latin typeface="Consolas"/>
              </a:rPr>
              <a:t>192.168.1.2</a:t>
            </a:r>
            <a:endParaRPr lang="en-US" sz="1350"/>
          </a:p>
        </p:txBody>
      </p:sp>
      <p:sp>
        <p:nvSpPr>
          <p:cNvPr id="23" name="Shape 23"/>
          <p:cNvSpPr/>
          <p:nvPr/>
        </p:nvSpPr>
        <p:spPr>
          <a:xfrm>
            <a:off x="7334250" y="4686300"/>
            <a:ext cx="304800" cy="304800"/>
          </a:xfrm>
          <a:prstGeom prst="ellipse">
            <a:avLst/>
          </a:prstGeom>
          <a:solidFill>
            <a:srgbClr val="AFA3FF"/>
          </a:solidFill>
          <a:ln>
            <a:noFill/>
          </a:ln>
        </p:spPr>
      </p:sp>
      <p:sp>
        <p:nvSpPr>
          <p:cNvPr id="24" name="Text 24"/>
          <p:cNvSpPr txBox="1"/>
          <p:nvPr/>
        </p:nvSpPr>
        <p:spPr>
          <a:xfrm>
            <a:off x="6772275" y="5086350"/>
            <a:ext cx="1428750" cy="238125"/>
          </a:xfrm>
          <a:prstGeom prst="rect">
            <a:avLst/>
          </a:prstGeom>
          <a:noFill/>
          <a:ln>
            <a:noFill/>
          </a:ln>
        </p:spPr>
        <p:txBody>
          <a:bodyPr wrap="none" lIns="0" tIns="0" rIns="0" bIns="0" anchor="t">
            <a:noAutofit/>
          </a:bodyPr>
          <a:lstStyle/>
          <a:p>
            <a:pPr>
              <a:lnSpc>
                <a:spcPts val="1620"/>
              </a:lnSpc>
              <a:spcBef>
                <a:spcPts val="0"/>
              </a:spcBef>
              <a:spcAft>
                <a:spcPts val="0"/>
              </a:spcAft>
            </a:pPr>
            <a:r>
              <a:rPr lang="en-US" sz="1350" b="0">
                <a:solidFill>
                  <a:srgbClr val="A7BBD0"/>
                </a:solidFill>
                <a:latin typeface="Consolas"/>
              </a:rPr>
              <a:t>192.168.1.3</a:t>
            </a:r>
            <a:endParaRPr lang="en-US" sz="1350"/>
          </a:p>
        </p:txBody>
      </p:sp>
      <p:sp>
        <p:nvSpPr>
          <p:cNvPr id="25" name="Shape 25"/>
          <p:cNvSpPr/>
          <p:nvPr/>
        </p:nvSpPr>
        <p:spPr>
          <a:xfrm>
            <a:off x="10420350" y="4638675"/>
            <a:ext cx="304800" cy="304800"/>
          </a:xfrm>
          <a:prstGeom prst="ellipse">
            <a:avLst/>
          </a:prstGeom>
          <a:solidFill>
            <a:srgbClr val="AFA3FF"/>
          </a:solidFill>
          <a:ln>
            <a:noFill/>
          </a:ln>
        </p:spPr>
      </p:sp>
      <p:sp>
        <p:nvSpPr>
          <p:cNvPr id="26" name="Text 26"/>
          <p:cNvSpPr txBox="1"/>
          <p:nvPr/>
        </p:nvSpPr>
        <p:spPr>
          <a:xfrm>
            <a:off x="9858375" y="5038725"/>
            <a:ext cx="1428750" cy="238125"/>
          </a:xfrm>
          <a:prstGeom prst="rect">
            <a:avLst/>
          </a:prstGeom>
          <a:noFill/>
          <a:ln>
            <a:noFill/>
          </a:ln>
        </p:spPr>
        <p:txBody>
          <a:bodyPr wrap="none" lIns="0" tIns="0" rIns="0" bIns="0" anchor="t">
            <a:noAutofit/>
          </a:bodyPr>
          <a:lstStyle/>
          <a:p>
            <a:pPr>
              <a:lnSpc>
                <a:spcPts val="1620"/>
              </a:lnSpc>
              <a:spcBef>
                <a:spcPts val="0"/>
              </a:spcBef>
              <a:spcAft>
                <a:spcPts val="0"/>
              </a:spcAft>
            </a:pPr>
            <a:r>
              <a:rPr lang="en-US" sz="1350" b="0">
                <a:solidFill>
                  <a:srgbClr val="A7BBD0"/>
                </a:solidFill>
                <a:latin typeface="Consolas"/>
              </a:rPr>
              <a:t>192.168.1.4</a:t>
            </a:r>
            <a:endParaRPr lang="en-US" sz="1350"/>
          </a:p>
        </p:txBody>
      </p:sp>
      <p:sp>
        <p:nvSpPr>
          <p:cNvPr id="27" name="Text 27"/>
          <p:cNvSpPr txBox="1"/>
          <p:nvPr/>
        </p:nvSpPr>
        <p:spPr>
          <a:xfrm>
            <a:off x="7467600" y="5600700"/>
            <a:ext cx="3524250" cy="266700"/>
          </a:xfrm>
          <a:prstGeom prst="rect">
            <a:avLst/>
          </a:prstGeom>
          <a:noFill/>
          <a:ln>
            <a:noFill/>
          </a:ln>
        </p:spPr>
        <p:txBody>
          <a:bodyPr wrap="none" lIns="0" tIns="0" rIns="0" bIns="0" anchor="t">
            <a:noAutofit/>
          </a:bodyPr>
          <a:lstStyle/>
          <a:p>
            <a:pPr>
              <a:lnSpc>
                <a:spcPts val="1710"/>
              </a:lnSpc>
              <a:spcBef>
                <a:spcPts val="0"/>
              </a:spcBef>
              <a:spcAft>
                <a:spcPts val="0"/>
              </a:spcAft>
            </a:pPr>
            <a:r>
              <a:rPr lang="en-US" sz="1425" b="0">
                <a:solidFill>
                  <a:srgbClr val="A7BBD0"/>
                </a:solidFill>
                <a:latin typeface="Arial"/>
              </a:rPr>
              <a:t>Illustrative private network</a:t>
            </a:r>
            <a:endParaRPr lang="en-US" sz="1425"/>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Why does this project matter?">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Why does this project matter?</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A growing network is difficult to understand by checking every device manually.</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02 / 12</a:t>
            </a:r>
            <a:endParaRPr lang="en-US" sz="1200"/>
          </a:p>
        </p:txBody>
      </p:sp>
      <p:sp>
        <p:nvSpPr>
          <p:cNvPr id="9" name="Shape 9"/>
          <p:cNvSpPr/>
          <p:nvPr/>
        </p:nvSpPr>
        <p:spPr>
          <a:xfrm>
            <a:off x="609600" y="2466975"/>
            <a:ext cx="5219700" cy="2828925"/>
          </a:xfrm>
          <a:prstGeom prst="roundRect">
            <a:avLst/>
          </a:prstGeom>
          <a:solidFill>
            <a:srgbClr val="102236"/>
          </a:solidFill>
          <a:ln>
            <a:noFill/>
          </a:ln>
        </p:spPr>
      </p:sp>
      <p:sp>
        <p:nvSpPr>
          <p:cNvPr id="10" name="Text 10"/>
          <p:cNvSpPr txBox="1"/>
          <p:nvPr/>
        </p:nvSpPr>
        <p:spPr>
          <a:xfrm>
            <a:off x="838200" y="2686050"/>
            <a:ext cx="47625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A7BBD0"/>
                </a:solidFill>
                <a:latin typeface="Arial"/>
              </a:rPr>
              <a:t>The manual task</a:t>
            </a:r>
            <a:endParaRPr lang="en-US" sz="2025"/>
          </a:p>
        </p:txBody>
      </p:sp>
      <p:sp>
        <p:nvSpPr>
          <p:cNvPr id="11" name="Text 11"/>
          <p:cNvSpPr txBox="1"/>
          <p:nvPr/>
        </p:nvSpPr>
        <p:spPr>
          <a:xfrm>
            <a:off x="838200" y="3286125"/>
            <a:ext cx="4762500" cy="18764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Find the address range.</a:t>
            </a:r>
            <a:endParaRPr lang="en-US" sz="1800"/>
          </a:p>
          <a:p>
            <a:pPr>
              <a:lnSpc>
                <a:spcPts val="2160"/>
              </a:lnSpc>
              <a:spcBef>
                <a:spcPts val="0"/>
              </a:spcBef>
              <a:spcAft>
                <a:spcPts val="0"/>
              </a:spcAft>
            </a:pPr>
            <a:r>
              <a:rPr lang="en-US" sz="1800" b="0">
                <a:solidFill>
                  <a:srgbClr val="EEF6FF"/>
                </a:solidFill>
                <a:latin typeface="Arial"/>
              </a:rPr>
              <a:t>Check candidate devices.</a:t>
            </a:r>
            <a:endParaRPr lang="en-US" sz="1800"/>
          </a:p>
          <a:p>
            <a:pPr>
              <a:lnSpc>
                <a:spcPts val="2160"/>
              </a:lnSpc>
              <a:spcBef>
                <a:spcPts val="0"/>
              </a:spcBef>
              <a:spcAft>
                <a:spcPts val="0"/>
              </a:spcAft>
            </a:pPr>
            <a:r>
              <a:rPr lang="en-US" sz="1800" b="0">
                <a:solidFill>
                  <a:srgbClr val="EEF6FF"/>
                </a:solidFill>
                <a:latin typeface="Arial"/>
              </a:rPr>
              <a:t>Try service connections.</a:t>
            </a:r>
            <a:endParaRPr lang="en-US" sz="1800"/>
          </a:p>
          <a:p>
            <a:pPr>
              <a:lnSpc>
                <a:spcPts val="2160"/>
              </a:lnSpc>
              <a:spcBef>
                <a:spcPts val="0"/>
              </a:spcBef>
              <a:spcAft>
                <a:spcPts val="0"/>
              </a:spcAft>
            </a:pPr>
            <a:r>
              <a:rPr lang="en-US" sz="1800" b="0">
                <a:solidFill>
                  <a:srgbClr val="EEF6FF"/>
                </a:solidFill>
                <a:latin typeface="Arial"/>
              </a:rPr>
              <a:t>Record each outcome.</a:t>
            </a:r>
            <a:endParaRPr lang="en-US" sz="1800"/>
          </a:p>
        </p:txBody>
      </p:sp>
      <p:sp>
        <p:nvSpPr>
          <p:cNvPr id="12" name="Shape 12"/>
          <p:cNvSpPr/>
          <p:nvPr/>
        </p:nvSpPr>
        <p:spPr>
          <a:xfrm>
            <a:off x="6134100" y="2466975"/>
            <a:ext cx="5448300" cy="2828925"/>
          </a:xfrm>
          <a:prstGeom prst="roundRect">
            <a:avLst/>
          </a:prstGeom>
          <a:solidFill>
            <a:srgbClr val="102236"/>
          </a:solidFill>
          <a:ln>
            <a:noFill/>
          </a:ln>
        </p:spPr>
      </p:sp>
      <p:sp>
        <p:nvSpPr>
          <p:cNvPr id="13" name="Text 13"/>
          <p:cNvSpPr txBox="1"/>
          <p:nvPr/>
        </p:nvSpPr>
        <p:spPr>
          <a:xfrm>
            <a:off x="6362700" y="2686050"/>
            <a:ext cx="49911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53DEEA"/>
                </a:solidFill>
                <a:latin typeface="Arial"/>
              </a:rPr>
              <a:t>The automated workflow</a:t>
            </a:r>
            <a:endParaRPr lang="en-US" sz="2025"/>
          </a:p>
        </p:txBody>
      </p:sp>
      <p:sp>
        <p:nvSpPr>
          <p:cNvPr id="14" name="Text 14"/>
          <p:cNvSpPr txBox="1"/>
          <p:nvPr/>
        </p:nvSpPr>
        <p:spPr>
          <a:xfrm>
            <a:off x="6362700" y="3286125"/>
            <a:ext cx="4991100" cy="18764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Validate once.</a:t>
            </a:r>
            <a:endParaRPr lang="en-US" sz="1800"/>
          </a:p>
          <a:p>
            <a:pPr>
              <a:lnSpc>
                <a:spcPts val="2160"/>
              </a:lnSpc>
              <a:spcBef>
                <a:spcPts val="0"/>
              </a:spcBef>
              <a:spcAft>
                <a:spcPts val="0"/>
              </a:spcAft>
            </a:pPr>
            <a:r>
              <a:rPr lang="en-US" sz="1800" b="0">
                <a:solidFill>
                  <a:srgbClr val="EEF6FF"/>
                </a:solidFill>
                <a:latin typeface="Arial"/>
              </a:rPr>
              <a:t>Calculate the subnet.</a:t>
            </a:r>
            <a:endParaRPr lang="en-US" sz="1800"/>
          </a:p>
          <a:p>
            <a:pPr>
              <a:lnSpc>
                <a:spcPts val="2160"/>
              </a:lnSpc>
              <a:spcBef>
                <a:spcPts val="0"/>
              </a:spcBef>
              <a:spcAft>
                <a:spcPts val="0"/>
              </a:spcAft>
            </a:pPr>
            <a:r>
              <a:rPr lang="en-US" sz="1800" b="0">
                <a:solidFill>
                  <a:srgbClr val="EEF6FF"/>
                </a:solidFill>
                <a:latin typeface="Arial"/>
              </a:rPr>
              <a:t>Run bounded checks.</a:t>
            </a:r>
            <a:endParaRPr lang="en-US" sz="1800"/>
          </a:p>
          <a:p>
            <a:pPr>
              <a:lnSpc>
                <a:spcPts val="2160"/>
              </a:lnSpc>
              <a:spcBef>
                <a:spcPts val="0"/>
              </a:spcBef>
              <a:spcAft>
                <a:spcPts val="0"/>
              </a:spcAft>
            </a:pPr>
            <a:r>
              <a:rPr lang="en-US" sz="1800" b="0">
                <a:solidFill>
                  <a:srgbClr val="EEF6FF"/>
                </a:solidFill>
                <a:latin typeface="Arial"/>
              </a:rPr>
              <a:t>Classify and summarize.</a:t>
            </a:r>
            <a:endParaRPr lang="en-US" sz="1800"/>
          </a:p>
        </p:txBody>
      </p:sp>
      <p:sp>
        <p:nvSpPr>
          <p:cNvPr id="15" name="Shape 15"/>
          <p:cNvSpPr/>
          <p:nvPr/>
        </p:nvSpPr>
        <p:spPr>
          <a:xfrm>
            <a:off x="609600" y="5657850"/>
            <a:ext cx="10972800" cy="457200"/>
          </a:xfrm>
          <a:prstGeom prst="roundRect">
            <a:avLst/>
          </a:prstGeom>
          <a:solidFill>
            <a:srgbClr val="122E40"/>
          </a:solidFill>
          <a:ln>
            <a:noFill/>
          </a:ln>
        </p:spPr>
      </p:sp>
      <p:sp>
        <p:nvSpPr>
          <p:cNvPr id="16" name="Text 16"/>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Objective: turn authorized network checks into a repeatable, understandable workflow.</a:t>
            </a:r>
            <a:endParaRPr lang="en-US" sz="1575"/>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tart with four simple ideas">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Start with four simple ideas</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Example: a small organizational LAN using private IPv4 addresses.</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03 / 12</a:t>
            </a:r>
            <a:endParaRPr lang="en-US" sz="1200"/>
          </a:p>
        </p:txBody>
      </p:sp>
      <p:sp>
        <p:nvSpPr>
          <p:cNvPr id="9" name="Shape 9"/>
          <p:cNvSpPr/>
          <p:nvPr/>
        </p:nvSpPr>
        <p:spPr>
          <a:xfrm>
            <a:off x="609600" y="2466975"/>
            <a:ext cx="2514600" cy="2638425"/>
          </a:xfrm>
          <a:prstGeom prst="roundRect">
            <a:avLst/>
          </a:prstGeom>
          <a:solidFill>
            <a:srgbClr val="102236"/>
          </a:solidFill>
          <a:ln>
            <a:noFill/>
          </a:ln>
        </p:spPr>
      </p:sp>
      <p:sp>
        <p:nvSpPr>
          <p:cNvPr id="10" name="Text 10"/>
          <p:cNvSpPr txBox="1"/>
          <p:nvPr/>
        </p:nvSpPr>
        <p:spPr>
          <a:xfrm>
            <a:off x="838200" y="2686050"/>
            <a:ext cx="20574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53DEEA"/>
                </a:solidFill>
                <a:latin typeface="Arial"/>
              </a:rPr>
              <a:t>Network</a:t>
            </a:r>
            <a:endParaRPr lang="en-US" sz="2025"/>
          </a:p>
        </p:txBody>
      </p:sp>
      <p:sp>
        <p:nvSpPr>
          <p:cNvPr id="11" name="Text 11"/>
          <p:cNvSpPr txBox="1"/>
          <p:nvPr/>
        </p:nvSpPr>
        <p:spPr>
          <a:xfrm>
            <a:off x="838200" y="3286125"/>
            <a:ext cx="2057400" cy="16859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Connected devices</a:t>
            </a:r>
            <a:endParaRPr lang="en-US" sz="1800"/>
          </a:p>
          <a:p>
            <a:pPr>
              <a:lnSpc>
                <a:spcPts val="2160"/>
              </a:lnSpc>
              <a:spcBef>
                <a:spcPts val="0"/>
              </a:spcBef>
              <a:spcAft>
                <a:spcPts val="0"/>
              </a:spcAft>
            </a:pPr>
            <a:r>
              <a:rPr lang="en-US" sz="1800" b="0">
                <a:solidFill>
                  <a:srgbClr val="EEF6FF"/>
                </a:solidFill>
                <a:latin typeface="Arial"/>
              </a:rPr>
              <a:t>that exchange data.</a:t>
            </a:r>
            <a:endParaRPr lang="en-US" sz="1800"/>
          </a:p>
        </p:txBody>
      </p:sp>
      <p:sp>
        <p:nvSpPr>
          <p:cNvPr id="12" name="Shape 12"/>
          <p:cNvSpPr/>
          <p:nvPr/>
        </p:nvSpPr>
        <p:spPr>
          <a:xfrm>
            <a:off x="3429000" y="2466975"/>
            <a:ext cx="2514600" cy="2638425"/>
          </a:xfrm>
          <a:prstGeom prst="roundRect">
            <a:avLst/>
          </a:prstGeom>
          <a:solidFill>
            <a:srgbClr val="102236"/>
          </a:solidFill>
          <a:ln>
            <a:noFill/>
          </a:ln>
        </p:spPr>
      </p:sp>
      <p:sp>
        <p:nvSpPr>
          <p:cNvPr id="13" name="Text 13"/>
          <p:cNvSpPr txBox="1"/>
          <p:nvPr/>
        </p:nvSpPr>
        <p:spPr>
          <a:xfrm>
            <a:off x="3657600" y="2686050"/>
            <a:ext cx="20574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53DEEA"/>
                </a:solidFill>
                <a:latin typeface="Arial"/>
              </a:rPr>
              <a:t>Host</a:t>
            </a:r>
            <a:endParaRPr lang="en-US" sz="2025"/>
          </a:p>
        </p:txBody>
      </p:sp>
      <p:sp>
        <p:nvSpPr>
          <p:cNvPr id="14" name="Text 14"/>
          <p:cNvSpPr txBox="1"/>
          <p:nvPr/>
        </p:nvSpPr>
        <p:spPr>
          <a:xfrm>
            <a:off x="3657600" y="3286125"/>
            <a:ext cx="2057400" cy="16859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A device taking part</a:t>
            </a:r>
            <a:endParaRPr lang="en-US" sz="1800"/>
          </a:p>
          <a:p>
            <a:pPr>
              <a:lnSpc>
                <a:spcPts val="2160"/>
              </a:lnSpc>
              <a:spcBef>
                <a:spcPts val="0"/>
              </a:spcBef>
              <a:spcAft>
                <a:spcPts val="0"/>
              </a:spcAft>
            </a:pPr>
            <a:r>
              <a:rPr lang="en-US" sz="1800" b="0">
                <a:solidFill>
                  <a:srgbClr val="EEF6FF"/>
                </a:solidFill>
                <a:latin typeface="Arial"/>
              </a:rPr>
              <a:t>in the network.</a:t>
            </a:r>
            <a:endParaRPr lang="en-US" sz="1800"/>
          </a:p>
        </p:txBody>
      </p:sp>
      <p:sp>
        <p:nvSpPr>
          <p:cNvPr id="15" name="Shape 15"/>
          <p:cNvSpPr/>
          <p:nvPr/>
        </p:nvSpPr>
        <p:spPr>
          <a:xfrm>
            <a:off x="6248400" y="2466975"/>
            <a:ext cx="2514600" cy="2638425"/>
          </a:xfrm>
          <a:prstGeom prst="roundRect">
            <a:avLst/>
          </a:prstGeom>
          <a:solidFill>
            <a:srgbClr val="102236"/>
          </a:solidFill>
          <a:ln>
            <a:noFill/>
          </a:ln>
        </p:spPr>
      </p:sp>
      <p:sp>
        <p:nvSpPr>
          <p:cNvPr id="16" name="Text 16"/>
          <p:cNvSpPr txBox="1"/>
          <p:nvPr/>
        </p:nvSpPr>
        <p:spPr>
          <a:xfrm>
            <a:off x="6477000" y="2686050"/>
            <a:ext cx="20574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53DEEA"/>
                </a:solidFill>
                <a:latin typeface="Arial"/>
              </a:rPr>
              <a:t>IP address</a:t>
            </a:r>
            <a:endParaRPr lang="en-US" sz="2025"/>
          </a:p>
        </p:txBody>
      </p:sp>
      <p:sp>
        <p:nvSpPr>
          <p:cNvPr id="17" name="Text 17"/>
          <p:cNvSpPr txBox="1"/>
          <p:nvPr/>
        </p:nvSpPr>
        <p:spPr>
          <a:xfrm>
            <a:off x="6477000" y="3286125"/>
            <a:ext cx="2057400" cy="16859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An address for a</a:t>
            </a:r>
            <a:endParaRPr lang="en-US" sz="1800"/>
          </a:p>
          <a:p>
            <a:pPr>
              <a:lnSpc>
                <a:spcPts val="2160"/>
              </a:lnSpc>
              <a:spcBef>
                <a:spcPts val="0"/>
              </a:spcBef>
              <a:spcAft>
                <a:spcPts val="0"/>
              </a:spcAft>
            </a:pPr>
            <a:r>
              <a:rPr lang="en-US" sz="1800" b="0">
                <a:solidFill>
                  <a:srgbClr val="EEF6FF"/>
                </a:solidFill>
                <a:latin typeface="Arial"/>
              </a:rPr>
              <a:t>network interface.</a:t>
            </a:r>
            <a:endParaRPr lang="en-US" sz="1800"/>
          </a:p>
        </p:txBody>
      </p:sp>
      <p:sp>
        <p:nvSpPr>
          <p:cNvPr id="18" name="Shape 18"/>
          <p:cNvSpPr/>
          <p:nvPr/>
        </p:nvSpPr>
        <p:spPr>
          <a:xfrm>
            <a:off x="9067800" y="2466975"/>
            <a:ext cx="2514600" cy="2638425"/>
          </a:xfrm>
          <a:prstGeom prst="roundRect">
            <a:avLst/>
          </a:prstGeom>
          <a:solidFill>
            <a:srgbClr val="102236"/>
          </a:solidFill>
          <a:ln>
            <a:noFill/>
          </a:ln>
        </p:spPr>
      </p:sp>
      <p:sp>
        <p:nvSpPr>
          <p:cNvPr id="19" name="Text 19"/>
          <p:cNvSpPr txBox="1"/>
          <p:nvPr/>
        </p:nvSpPr>
        <p:spPr>
          <a:xfrm>
            <a:off x="9296400" y="2686050"/>
            <a:ext cx="20574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53DEEA"/>
                </a:solidFill>
                <a:latin typeface="Arial"/>
              </a:rPr>
              <a:t>TCP port</a:t>
            </a:r>
            <a:endParaRPr lang="en-US" sz="2025"/>
          </a:p>
        </p:txBody>
      </p:sp>
      <p:sp>
        <p:nvSpPr>
          <p:cNvPr id="20" name="Text 20"/>
          <p:cNvSpPr txBox="1"/>
          <p:nvPr/>
        </p:nvSpPr>
        <p:spPr>
          <a:xfrm>
            <a:off x="9296400" y="3286125"/>
            <a:ext cx="2057400" cy="16859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A numbered service</a:t>
            </a:r>
            <a:endParaRPr lang="en-US" sz="1800"/>
          </a:p>
          <a:p>
            <a:pPr>
              <a:lnSpc>
                <a:spcPts val="2160"/>
              </a:lnSpc>
              <a:spcBef>
                <a:spcPts val="0"/>
              </a:spcBef>
              <a:spcAft>
                <a:spcPts val="0"/>
              </a:spcAft>
            </a:pPr>
            <a:r>
              <a:rPr lang="en-US" sz="1800" b="0">
                <a:solidFill>
                  <a:srgbClr val="EEF6FF"/>
                </a:solidFill>
                <a:latin typeface="Arial"/>
              </a:rPr>
              <a:t>connection endpoint.</a:t>
            </a:r>
            <a:endParaRPr lang="en-US" sz="1800"/>
          </a:p>
        </p:txBody>
      </p:sp>
      <p:sp>
        <p:nvSpPr>
          <p:cNvPr id="21" name="Shape 21"/>
          <p:cNvSpPr/>
          <p:nvPr/>
        </p:nvSpPr>
        <p:spPr>
          <a:xfrm>
            <a:off x="609600" y="5657850"/>
            <a:ext cx="10972800" cy="457200"/>
          </a:xfrm>
          <a:prstGeom prst="roundRect">
            <a:avLst/>
          </a:prstGeom>
          <a:solidFill>
            <a:srgbClr val="122E40"/>
          </a:solidFill>
          <a:ln>
            <a:noFill/>
          </a:ln>
        </p:spPr>
      </p:sp>
      <p:sp>
        <p:nvSpPr>
          <p:cNvPr id="22" name="Text 22"/>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192.168.1.2 : 443  =  sample host address + TCP service endpoint</a:t>
            </a:r>
            <a:endParaRPr lang="en-US" sz="1575"/>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What does /24 mean?">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What does /24 mean?</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An IPv4 address has 32 bits. CIDR tells us how many belong to the network.</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04 / 12</a:t>
            </a:r>
            <a:endParaRPr lang="en-US" sz="1200"/>
          </a:p>
        </p:txBody>
      </p:sp>
      <p:sp>
        <p:nvSpPr>
          <p:cNvPr id="9" name="Text 9"/>
          <p:cNvSpPr txBox="1"/>
          <p:nvPr/>
        </p:nvSpPr>
        <p:spPr>
          <a:xfrm>
            <a:off x="609600" y="2457450"/>
            <a:ext cx="109728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EEF6FF"/>
                </a:solidFill>
                <a:latin typeface="Consolas"/>
              </a:rPr>
              <a:t>192.168.1.0/24</a:t>
            </a:r>
            <a:endParaRPr lang="en-US" sz="2325"/>
          </a:p>
        </p:txBody>
      </p:sp>
      <p:sp>
        <p:nvSpPr>
          <p:cNvPr id="10" name="Shape 10"/>
          <p:cNvSpPr/>
          <p:nvPr/>
        </p:nvSpPr>
        <p:spPr>
          <a:xfrm>
            <a:off x="609600" y="3038475"/>
            <a:ext cx="276225" cy="400050"/>
          </a:xfrm>
          <a:prstGeom prst="roundRect">
            <a:avLst/>
          </a:prstGeom>
          <a:solidFill>
            <a:srgbClr val="53DEEA"/>
          </a:solidFill>
          <a:ln>
            <a:noFill/>
          </a:ln>
        </p:spPr>
      </p:sp>
      <p:sp>
        <p:nvSpPr>
          <p:cNvPr id="11" name="Shape 11"/>
          <p:cNvSpPr/>
          <p:nvPr/>
        </p:nvSpPr>
        <p:spPr>
          <a:xfrm>
            <a:off x="952500" y="3038475"/>
            <a:ext cx="276225" cy="400050"/>
          </a:xfrm>
          <a:prstGeom prst="roundRect">
            <a:avLst/>
          </a:prstGeom>
          <a:solidFill>
            <a:srgbClr val="53DEEA"/>
          </a:solidFill>
          <a:ln>
            <a:noFill/>
          </a:ln>
        </p:spPr>
      </p:sp>
      <p:sp>
        <p:nvSpPr>
          <p:cNvPr id="12" name="Shape 12"/>
          <p:cNvSpPr/>
          <p:nvPr/>
        </p:nvSpPr>
        <p:spPr>
          <a:xfrm>
            <a:off x="1295400" y="3038475"/>
            <a:ext cx="276225" cy="400050"/>
          </a:xfrm>
          <a:prstGeom prst="roundRect">
            <a:avLst/>
          </a:prstGeom>
          <a:solidFill>
            <a:srgbClr val="53DEEA"/>
          </a:solidFill>
          <a:ln>
            <a:noFill/>
          </a:ln>
        </p:spPr>
      </p:sp>
      <p:sp>
        <p:nvSpPr>
          <p:cNvPr id="13" name="Shape 13"/>
          <p:cNvSpPr/>
          <p:nvPr/>
        </p:nvSpPr>
        <p:spPr>
          <a:xfrm>
            <a:off x="1638300" y="3038475"/>
            <a:ext cx="276225" cy="400050"/>
          </a:xfrm>
          <a:prstGeom prst="roundRect">
            <a:avLst/>
          </a:prstGeom>
          <a:solidFill>
            <a:srgbClr val="53DEEA"/>
          </a:solidFill>
          <a:ln>
            <a:noFill/>
          </a:ln>
        </p:spPr>
      </p:sp>
      <p:sp>
        <p:nvSpPr>
          <p:cNvPr id="14" name="Shape 14"/>
          <p:cNvSpPr/>
          <p:nvPr/>
        </p:nvSpPr>
        <p:spPr>
          <a:xfrm>
            <a:off x="1981200" y="3038475"/>
            <a:ext cx="276225" cy="400050"/>
          </a:xfrm>
          <a:prstGeom prst="roundRect">
            <a:avLst/>
          </a:prstGeom>
          <a:solidFill>
            <a:srgbClr val="53DEEA"/>
          </a:solidFill>
          <a:ln>
            <a:noFill/>
          </a:ln>
        </p:spPr>
      </p:sp>
      <p:sp>
        <p:nvSpPr>
          <p:cNvPr id="15" name="Shape 15"/>
          <p:cNvSpPr/>
          <p:nvPr/>
        </p:nvSpPr>
        <p:spPr>
          <a:xfrm>
            <a:off x="2324100" y="3038475"/>
            <a:ext cx="276225" cy="400050"/>
          </a:xfrm>
          <a:prstGeom prst="roundRect">
            <a:avLst/>
          </a:prstGeom>
          <a:solidFill>
            <a:srgbClr val="53DEEA"/>
          </a:solidFill>
          <a:ln>
            <a:noFill/>
          </a:ln>
        </p:spPr>
      </p:sp>
      <p:sp>
        <p:nvSpPr>
          <p:cNvPr id="16" name="Shape 16"/>
          <p:cNvSpPr/>
          <p:nvPr/>
        </p:nvSpPr>
        <p:spPr>
          <a:xfrm>
            <a:off x="2667000" y="3038475"/>
            <a:ext cx="276225" cy="400050"/>
          </a:xfrm>
          <a:prstGeom prst="roundRect">
            <a:avLst/>
          </a:prstGeom>
          <a:solidFill>
            <a:srgbClr val="53DEEA"/>
          </a:solidFill>
          <a:ln>
            <a:noFill/>
          </a:ln>
        </p:spPr>
      </p:sp>
      <p:sp>
        <p:nvSpPr>
          <p:cNvPr id="17" name="Shape 17"/>
          <p:cNvSpPr/>
          <p:nvPr/>
        </p:nvSpPr>
        <p:spPr>
          <a:xfrm>
            <a:off x="3009900" y="3038475"/>
            <a:ext cx="276225" cy="400050"/>
          </a:xfrm>
          <a:prstGeom prst="roundRect">
            <a:avLst/>
          </a:prstGeom>
          <a:solidFill>
            <a:srgbClr val="53DEEA"/>
          </a:solidFill>
          <a:ln>
            <a:noFill/>
          </a:ln>
        </p:spPr>
      </p:sp>
      <p:sp>
        <p:nvSpPr>
          <p:cNvPr id="18" name="Shape 18"/>
          <p:cNvSpPr/>
          <p:nvPr/>
        </p:nvSpPr>
        <p:spPr>
          <a:xfrm>
            <a:off x="3352800" y="3038475"/>
            <a:ext cx="276225" cy="400050"/>
          </a:xfrm>
          <a:prstGeom prst="roundRect">
            <a:avLst/>
          </a:prstGeom>
          <a:solidFill>
            <a:srgbClr val="53DEEA"/>
          </a:solidFill>
          <a:ln>
            <a:noFill/>
          </a:ln>
        </p:spPr>
      </p:sp>
      <p:sp>
        <p:nvSpPr>
          <p:cNvPr id="19" name="Shape 19"/>
          <p:cNvSpPr/>
          <p:nvPr/>
        </p:nvSpPr>
        <p:spPr>
          <a:xfrm>
            <a:off x="3695700" y="3038475"/>
            <a:ext cx="276225" cy="400050"/>
          </a:xfrm>
          <a:prstGeom prst="roundRect">
            <a:avLst/>
          </a:prstGeom>
          <a:solidFill>
            <a:srgbClr val="53DEEA"/>
          </a:solidFill>
          <a:ln>
            <a:noFill/>
          </a:ln>
        </p:spPr>
      </p:sp>
      <p:sp>
        <p:nvSpPr>
          <p:cNvPr id="20" name="Shape 20"/>
          <p:cNvSpPr/>
          <p:nvPr/>
        </p:nvSpPr>
        <p:spPr>
          <a:xfrm>
            <a:off x="4038600" y="3038475"/>
            <a:ext cx="276225" cy="400050"/>
          </a:xfrm>
          <a:prstGeom prst="roundRect">
            <a:avLst/>
          </a:prstGeom>
          <a:solidFill>
            <a:srgbClr val="53DEEA"/>
          </a:solidFill>
          <a:ln>
            <a:noFill/>
          </a:ln>
        </p:spPr>
      </p:sp>
      <p:sp>
        <p:nvSpPr>
          <p:cNvPr id="21" name="Shape 21"/>
          <p:cNvSpPr/>
          <p:nvPr/>
        </p:nvSpPr>
        <p:spPr>
          <a:xfrm>
            <a:off x="4381500" y="3038475"/>
            <a:ext cx="276225" cy="400050"/>
          </a:xfrm>
          <a:prstGeom prst="roundRect">
            <a:avLst/>
          </a:prstGeom>
          <a:solidFill>
            <a:srgbClr val="53DEEA"/>
          </a:solidFill>
          <a:ln>
            <a:noFill/>
          </a:ln>
        </p:spPr>
      </p:sp>
      <p:sp>
        <p:nvSpPr>
          <p:cNvPr id="22" name="Shape 22"/>
          <p:cNvSpPr/>
          <p:nvPr/>
        </p:nvSpPr>
        <p:spPr>
          <a:xfrm>
            <a:off x="4724400" y="3038475"/>
            <a:ext cx="276225" cy="400050"/>
          </a:xfrm>
          <a:prstGeom prst="roundRect">
            <a:avLst/>
          </a:prstGeom>
          <a:solidFill>
            <a:srgbClr val="53DEEA"/>
          </a:solidFill>
          <a:ln>
            <a:noFill/>
          </a:ln>
        </p:spPr>
      </p:sp>
      <p:sp>
        <p:nvSpPr>
          <p:cNvPr id="23" name="Shape 23"/>
          <p:cNvSpPr/>
          <p:nvPr/>
        </p:nvSpPr>
        <p:spPr>
          <a:xfrm>
            <a:off x="5067300" y="3038475"/>
            <a:ext cx="276225" cy="400050"/>
          </a:xfrm>
          <a:prstGeom prst="roundRect">
            <a:avLst/>
          </a:prstGeom>
          <a:solidFill>
            <a:srgbClr val="53DEEA"/>
          </a:solidFill>
          <a:ln>
            <a:noFill/>
          </a:ln>
        </p:spPr>
      </p:sp>
      <p:sp>
        <p:nvSpPr>
          <p:cNvPr id="24" name="Shape 24"/>
          <p:cNvSpPr/>
          <p:nvPr/>
        </p:nvSpPr>
        <p:spPr>
          <a:xfrm>
            <a:off x="5410200" y="3038475"/>
            <a:ext cx="276225" cy="400050"/>
          </a:xfrm>
          <a:prstGeom prst="roundRect">
            <a:avLst/>
          </a:prstGeom>
          <a:solidFill>
            <a:srgbClr val="53DEEA"/>
          </a:solidFill>
          <a:ln>
            <a:noFill/>
          </a:ln>
        </p:spPr>
      </p:sp>
      <p:sp>
        <p:nvSpPr>
          <p:cNvPr id="25" name="Shape 25"/>
          <p:cNvSpPr/>
          <p:nvPr/>
        </p:nvSpPr>
        <p:spPr>
          <a:xfrm>
            <a:off x="5753100" y="3038475"/>
            <a:ext cx="276225" cy="400050"/>
          </a:xfrm>
          <a:prstGeom prst="roundRect">
            <a:avLst/>
          </a:prstGeom>
          <a:solidFill>
            <a:srgbClr val="53DEEA"/>
          </a:solidFill>
          <a:ln>
            <a:noFill/>
          </a:ln>
        </p:spPr>
      </p:sp>
      <p:sp>
        <p:nvSpPr>
          <p:cNvPr id="26" name="Shape 26"/>
          <p:cNvSpPr/>
          <p:nvPr/>
        </p:nvSpPr>
        <p:spPr>
          <a:xfrm>
            <a:off x="6096000" y="3038475"/>
            <a:ext cx="276225" cy="400050"/>
          </a:xfrm>
          <a:prstGeom prst="roundRect">
            <a:avLst/>
          </a:prstGeom>
          <a:solidFill>
            <a:srgbClr val="53DEEA"/>
          </a:solidFill>
          <a:ln>
            <a:noFill/>
          </a:ln>
        </p:spPr>
      </p:sp>
      <p:sp>
        <p:nvSpPr>
          <p:cNvPr id="27" name="Shape 27"/>
          <p:cNvSpPr/>
          <p:nvPr/>
        </p:nvSpPr>
        <p:spPr>
          <a:xfrm>
            <a:off x="6438900" y="3038475"/>
            <a:ext cx="276225" cy="400050"/>
          </a:xfrm>
          <a:prstGeom prst="roundRect">
            <a:avLst/>
          </a:prstGeom>
          <a:solidFill>
            <a:srgbClr val="53DEEA"/>
          </a:solidFill>
          <a:ln>
            <a:noFill/>
          </a:ln>
        </p:spPr>
      </p:sp>
      <p:sp>
        <p:nvSpPr>
          <p:cNvPr id="28" name="Shape 28"/>
          <p:cNvSpPr/>
          <p:nvPr/>
        </p:nvSpPr>
        <p:spPr>
          <a:xfrm>
            <a:off x="6781800" y="3038475"/>
            <a:ext cx="276225" cy="400050"/>
          </a:xfrm>
          <a:prstGeom prst="roundRect">
            <a:avLst/>
          </a:prstGeom>
          <a:solidFill>
            <a:srgbClr val="53DEEA"/>
          </a:solidFill>
          <a:ln>
            <a:noFill/>
          </a:ln>
        </p:spPr>
      </p:sp>
      <p:sp>
        <p:nvSpPr>
          <p:cNvPr id="29" name="Shape 29"/>
          <p:cNvSpPr/>
          <p:nvPr/>
        </p:nvSpPr>
        <p:spPr>
          <a:xfrm>
            <a:off x="7124700" y="3038475"/>
            <a:ext cx="276225" cy="400050"/>
          </a:xfrm>
          <a:prstGeom prst="roundRect">
            <a:avLst/>
          </a:prstGeom>
          <a:solidFill>
            <a:srgbClr val="53DEEA"/>
          </a:solidFill>
          <a:ln>
            <a:noFill/>
          </a:ln>
        </p:spPr>
      </p:sp>
      <p:sp>
        <p:nvSpPr>
          <p:cNvPr id="30" name="Shape 30"/>
          <p:cNvSpPr/>
          <p:nvPr/>
        </p:nvSpPr>
        <p:spPr>
          <a:xfrm>
            <a:off x="7467600" y="3038475"/>
            <a:ext cx="276225" cy="400050"/>
          </a:xfrm>
          <a:prstGeom prst="roundRect">
            <a:avLst/>
          </a:prstGeom>
          <a:solidFill>
            <a:srgbClr val="53DEEA"/>
          </a:solidFill>
          <a:ln>
            <a:noFill/>
          </a:ln>
        </p:spPr>
      </p:sp>
      <p:sp>
        <p:nvSpPr>
          <p:cNvPr id="31" name="Shape 31"/>
          <p:cNvSpPr/>
          <p:nvPr/>
        </p:nvSpPr>
        <p:spPr>
          <a:xfrm>
            <a:off x="7810500" y="3038475"/>
            <a:ext cx="276225" cy="400050"/>
          </a:xfrm>
          <a:prstGeom prst="roundRect">
            <a:avLst/>
          </a:prstGeom>
          <a:solidFill>
            <a:srgbClr val="53DEEA"/>
          </a:solidFill>
          <a:ln>
            <a:noFill/>
          </a:ln>
        </p:spPr>
      </p:sp>
      <p:sp>
        <p:nvSpPr>
          <p:cNvPr id="32" name="Shape 32"/>
          <p:cNvSpPr/>
          <p:nvPr/>
        </p:nvSpPr>
        <p:spPr>
          <a:xfrm>
            <a:off x="8153400" y="3038475"/>
            <a:ext cx="276225" cy="400050"/>
          </a:xfrm>
          <a:prstGeom prst="roundRect">
            <a:avLst/>
          </a:prstGeom>
          <a:solidFill>
            <a:srgbClr val="53DEEA"/>
          </a:solidFill>
          <a:ln>
            <a:noFill/>
          </a:ln>
        </p:spPr>
      </p:sp>
      <p:sp>
        <p:nvSpPr>
          <p:cNvPr id="33" name="Shape 33"/>
          <p:cNvSpPr/>
          <p:nvPr/>
        </p:nvSpPr>
        <p:spPr>
          <a:xfrm>
            <a:off x="8496300" y="3038475"/>
            <a:ext cx="276225" cy="400050"/>
          </a:xfrm>
          <a:prstGeom prst="roundRect">
            <a:avLst/>
          </a:prstGeom>
          <a:solidFill>
            <a:srgbClr val="53DEEA"/>
          </a:solidFill>
          <a:ln>
            <a:noFill/>
          </a:ln>
        </p:spPr>
      </p:sp>
      <p:sp>
        <p:nvSpPr>
          <p:cNvPr id="34" name="Shape 34"/>
          <p:cNvSpPr/>
          <p:nvPr/>
        </p:nvSpPr>
        <p:spPr>
          <a:xfrm>
            <a:off x="8839200" y="3038475"/>
            <a:ext cx="276225" cy="400050"/>
          </a:xfrm>
          <a:prstGeom prst="roundRect">
            <a:avLst/>
          </a:prstGeom>
          <a:solidFill>
            <a:srgbClr val="AFA3FF"/>
          </a:solidFill>
          <a:ln>
            <a:noFill/>
          </a:ln>
        </p:spPr>
      </p:sp>
      <p:sp>
        <p:nvSpPr>
          <p:cNvPr id="35" name="Shape 35"/>
          <p:cNvSpPr/>
          <p:nvPr/>
        </p:nvSpPr>
        <p:spPr>
          <a:xfrm>
            <a:off x="9182100" y="3038475"/>
            <a:ext cx="276225" cy="400050"/>
          </a:xfrm>
          <a:prstGeom prst="roundRect">
            <a:avLst/>
          </a:prstGeom>
          <a:solidFill>
            <a:srgbClr val="AFA3FF"/>
          </a:solidFill>
          <a:ln>
            <a:noFill/>
          </a:ln>
        </p:spPr>
      </p:sp>
      <p:sp>
        <p:nvSpPr>
          <p:cNvPr id="36" name="Shape 36"/>
          <p:cNvSpPr/>
          <p:nvPr/>
        </p:nvSpPr>
        <p:spPr>
          <a:xfrm>
            <a:off x="9525000" y="3038475"/>
            <a:ext cx="276225" cy="400050"/>
          </a:xfrm>
          <a:prstGeom prst="roundRect">
            <a:avLst/>
          </a:prstGeom>
          <a:solidFill>
            <a:srgbClr val="AFA3FF"/>
          </a:solidFill>
          <a:ln>
            <a:noFill/>
          </a:ln>
        </p:spPr>
      </p:sp>
      <p:sp>
        <p:nvSpPr>
          <p:cNvPr id="37" name="Shape 37"/>
          <p:cNvSpPr/>
          <p:nvPr/>
        </p:nvSpPr>
        <p:spPr>
          <a:xfrm>
            <a:off x="9867900" y="3038475"/>
            <a:ext cx="276225" cy="400050"/>
          </a:xfrm>
          <a:prstGeom prst="roundRect">
            <a:avLst/>
          </a:prstGeom>
          <a:solidFill>
            <a:srgbClr val="AFA3FF"/>
          </a:solidFill>
          <a:ln>
            <a:noFill/>
          </a:ln>
        </p:spPr>
      </p:sp>
      <p:sp>
        <p:nvSpPr>
          <p:cNvPr id="38" name="Shape 38"/>
          <p:cNvSpPr/>
          <p:nvPr/>
        </p:nvSpPr>
        <p:spPr>
          <a:xfrm>
            <a:off x="10210800" y="3038475"/>
            <a:ext cx="276225" cy="400050"/>
          </a:xfrm>
          <a:prstGeom prst="roundRect">
            <a:avLst/>
          </a:prstGeom>
          <a:solidFill>
            <a:srgbClr val="AFA3FF"/>
          </a:solidFill>
          <a:ln>
            <a:noFill/>
          </a:ln>
        </p:spPr>
      </p:sp>
      <p:sp>
        <p:nvSpPr>
          <p:cNvPr id="39" name="Shape 39"/>
          <p:cNvSpPr/>
          <p:nvPr/>
        </p:nvSpPr>
        <p:spPr>
          <a:xfrm>
            <a:off x="10553700" y="3038475"/>
            <a:ext cx="276225" cy="400050"/>
          </a:xfrm>
          <a:prstGeom prst="roundRect">
            <a:avLst/>
          </a:prstGeom>
          <a:solidFill>
            <a:srgbClr val="AFA3FF"/>
          </a:solidFill>
          <a:ln>
            <a:noFill/>
          </a:ln>
        </p:spPr>
      </p:sp>
      <p:sp>
        <p:nvSpPr>
          <p:cNvPr id="40" name="Shape 40"/>
          <p:cNvSpPr/>
          <p:nvPr/>
        </p:nvSpPr>
        <p:spPr>
          <a:xfrm>
            <a:off x="10896600" y="3038475"/>
            <a:ext cx="276225" cy="400050"/>
          </a:xfrm>
          <a:prstGeom prst="roundRect">
            <a:avLst/>
          </a:prstGeom>
          <a:solidFill>
            <a:srgbClr val="AFA3FF"/>
          </a:solidFill>
          <a:ln>
            <a:noFill/>
          </a:ln>
        </p:spPr>
      </p:sp>
      <p:sp>
        <p:nvSpPr>
          <p:cNvPr id="41" name="Shape 41"/>
          <p:cNvSpPr/>
          <p:nvPr/>
        </p:nvSpPr>
        <p:spPr>
          <a:xfrm>
            <a:off x="11239500" y="3038475"/>
            <a:ext cx="276225" cy="400050"/>
          </a:xfrm>
          <a:prstGeom prst="roundRect">
            <a:avLst/>
          </a:prstGeom>
          <a:solidFill>
            <a:srgbClr val="AFA3FF"/>
          </a:solidFill>
          <a:ln>
            <a:noFill/>
          </a:ln>
        </p:spPr>
      </p:sp>
      <p:sp>
        <p:nvSpPr>
          <p:cNvPr id="42" name="Text 42"/>
          <p:cNvSpPr txBox="1"/>
          <p:nvPr/>
        </p:nvSpPr>
        <p:spPr>
          <a:xfrm>
            <a:off x="609600" y="3590925"/>
            <a:ext cx="7829550" cy="285750"/>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53DEEA"/>
                </a:solidFill>
                <a:latin typeface="Arial"/>
              </a:rPr>
              <a:t>24 network bits  /  subnet mask: 255.255.255.0</a:t>
            </a:r>
            <a:endParaRPr lang="en-US" sz="1800"/>
          </a:p>
        </p:txBody>
      </p:sp>
      <p:sp>
        <p:nvSpPr>
          <p:cNvPr id="43" name="Text 43"/>
          <p:cNvSpPr txBox="1"/>
          <p:nvPr/>
        </p:nvSpPr>
        <p:spPr>
          <a:xfrm>
            <a:off x="8877300" y="3590925"/>
            <a:ext cx="2705100" cy="285750"/>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AFA3FF"/>
                </a:solidFill>
                <a:latin typeface="Arial"/>
              </a:rPr>
              <a:t>8 host bits</a:t>
            </a:r>
            <a:endParaRPr lang="en-US" sz="1800"/>
          </a:p>
        </p:txBody>
      </p:sp>
      <p:sp>
        <p:nvSpPr>
          <p:cNvPr id="44" name="Shape 44"/>
          <p:cNvSpPr/>
          <p:nvPr/>
        </p:nvSpPr>
        <p:spPr>
          <a:xfrm>
            <a:off x="609600" y="4143375"/>
            <a:ext cx="3371850" cy="1304925"/>
          </a:xfrm>
          <a:prstGeom prst="roundRect">
            <a:avLst/>
          </a:prstGeom>
          <a:solidFill>
            <a:srgbClr val="102236"/>
          </a:solidFill>
          <a:ln>
            <a:noFill/>
          </a:ln>
        </p:spPr>
      </p:sp>
      <p:sp>
        <p:nvSpPr>
          <p:cNvPr id="45" name="Text 45"/>
          <p:cNvSpPr txBox="1"/>
          <p:nvPr/>
        </p:nvSpPr>
        <p:spPr>
          <a:xfrm>
            <a:off x="838200" y="4362450"/>
            <a:ext cx="291465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53DEEA"/>
                </a:solidFill>
                <a:latin typeface="Arial"/>
              </a:rPr>
              <a:t>2^8 = 256</a:t>
            </a:r>
            <a:endParaRPr lang="en-US" sz="2025"/>
          </a:p>
        </p:txBody>
      </p:sp>
      <p:sp>
        <p:nvSpPr>
          <p:cNvPr id="46" name="Text 46"/>
          <p:cNvSpPr txBox="1"/>
          <p:nvPr/>
        </p:nvSpPr>
        <p:spPr>
          <a:xfrm>
            <a:off x="838200" y="4962525"/>
            <a:ext cx="2914650" cy="3524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Total IPv4 addresses</a:t>
            </a:r>
            <a:endParaRPr lang="en-US" sz="1800"/>
          </a:p>
        </p:txBody>
      </p:sp>
      <p:sp>
        <p:nvSpPr>
          <p:cNvPr id="47" name="Shape 47"/>
          <p:cNvSpPr/>
          <p:nvPr/>
        </p:nvSpPr>
        <p:spPr>
          <a:xfrm>
            <a:off x="4267200" y="4143375"/>
            <a:ext cx="3371850" cy="1304925"/>
          </a:xfrm>
          <a:prstGeom prst="roundRect">
            <a:avLst/>
          </a:prstGeom>
          <a:solidFill>
            <a:srgbClr val="102236"/>
          </a:solidFill>
          <a:ln>
            <a:noFill/>
          </a:ln>
        </p:spPr>
      </p:sp>
      <p:sp>
        <p:nvSpPr>
          <p:cNvPr id="48" name="Text 48"/>
          <p:cNvSpPr txBox="1"/>
          <p:nvPr/>
        </p:nvSpPr>
        <p:spPr>
          <a:xfrm>
            <a:off x="4495800" y="4362450"/>
            <a:ext cx="291465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65D7AA"/>
                </a:solidFill>
                <a:latin typeface="Arial"/>
              </a:rPr>
              <a:t>256 - 2 = 254</a:t>
            </a:r>
            <a:endParaRPr lang="en-US" sz="2025"/>
          </a:p>
        </p:txBody>
      </p:sp>
      <p:sp>
        <p:nvSpPr>
          <p:cNvPr id="49" name="Text 49"/>
          <p:cNvSpPr txBox="1"/>
          <p:nvPr/>
        </p:nvSpPr>
        <p:spPr>
          <a:xfrm>
            <a:off x="4495800" y="4962525"/>
            <a:ext cx="2914650" cy="3524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Conventional usable hosts</a:t>
            </a:r>
            <a:endParaRPr lang="en-US" sz="1800"/>
          </a:p>
        </p:txBody>
      </p:sp>
      <p:sp>
        <p:nvSpPr>
          <p:cNvPr id="50" name="Shape 50"/>
          <p:cNvSpPr/>
          <p:nvPr/>
        </p:nvSpPr>
        <p:spPr>
          <a:xfrm>
            <a:off x="7924800" y="4143375"/>
            <a:ext cx="3657600" cy="1304925"/>
          </a:xfrm>
          <a:prstGeom prst="roundRect">
            <a:avLst/>
          </a:prstGeom>
          <a:solidFill>
            <a:srgbClr val="102236"/>
          </a:solidFill>
          <a:ln>
            <a:noFill/>
          </a:ln>
        </p:spPr>
      </p:sp>
      <p:sp>
        <p:nvSpPr>
          <p:cNvPr id="51" name="Text 51"/>
          <p:cNvSpPr txBox="1"/>
          <p:nvPr/>
        </p:nvSpPr>
        <p:spPr>
          <a:xfrm>
            <a:off x="8153400" y="4362450"/>
            <a:ext cx="32004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AFA3FF"/>
                </a:solidFill>
                <a:latin typeface="Arial"/>
              </a:rPr>
              <a:t>Network + broadcast</a:t>
            </a:r>
            <a:endParaRPr lang="en-US" sz="2025"/>
          </a:p>
        </p:txBody>
      </p:sp>
      <p:sp>
        <p:nvSpPr>
          <p:cNvPr id="52" name="Text 52"/>
          <p:cNvSpPr txBox="1"/>
          <p:nvPr/>
        </p:nvSpPr>
        <p:spPr>
          <a:xfrm>
            <a:off x="8153400" y="4962525"/>
            <a:ext cx="3200400" cy="3524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Two reserved addresses</a:t>
            </a:r>
            <a:endParaRPr lang="en-US" sz="1800"/>
          </a:p>
        </p:txBody>
      </p:sp>
      <p:sp>
        <p:nvSpPr>
          <p:cNvPr id="53" name="Shape 53"/>
          <p:cNvSpPr/>
          <p:nvPr/>
        </p:nvSpPr>
        <p:spPr>
          <a:xfrm>
            <a:off x="609600" y="5657850"/>
            <a:ext cx="10972800" cy="457200"/>
          </a:xfrm>
          <a:prstGeom prst="roundRect">
            <a:avLst/>
          </a:prstGeom>
          <a:solidFill>
            <a:srgbClr val="122E40"/>
          </a:solidFill>
          <a:ln>
            <a:noFill/>
          </a:ln>
        </p:spPr>
      </p:sp>
      <p:sp>
        <p:nvSpPr>
          <p:cNvPr id="54" name="Text 54"/>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Special cases: /31 has 2 point-to-point endpoints; /32 represents 1 address.</a:t>
            </a:r>
            <a:endParaRPr lang="en-US" sz="1575"/>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Calculate a small subnet">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Calculate a small subnet</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The lab example is 192.168.1.0/29: small enough to follow every address.</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05 / 12</a:t>
            </a:r>
            <a:endParaRPr lang="en-US" sz="1200"/>
          </a:p>
        </p:txBody>
      </p:sp>
      <p:sp>
        <p:nvSpPr>
          <p:cNvPr id="9" name="Text 9"/>
          <p:cNvSpPr txBox="1"/>
          <p:nvPr/>
        </p:nvSpPr>
        <p:spPr>
          <a:xfrm>
            <a:off x="609600" y="2466975"/>
            <a:ext cx="10972800" cy="38100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EEF6FF"/>
                </a:solidFill>
                <a:latin typeface="Arial"/>
              </a:rPr>
              <a:t>32 - 29 = 3 host bits       2^3 = 8 total       8 - 2 = 6 usable</a:t>
            </a:r>
            <a:endParaRPr lang="en-US" sz="2025"/>
          </a:p>
        </p:txBody>
      </p:sp>
      <p:sp>
        <p:nvSpPr>
          <p:cNvPr id="10" name="Shape 10"/>
          <p:cNvSpPr/>
          <p:nvPr/>
        </p:nvSpPr>
        <p:spPr>
          <a:xfrm>
            <a:off x="609600" y="3143250"/>
            <a:ext cx="1257300" cy="1428750"/>
          </a:xfrm>
          <a:prstGeom prst="roundRect">
            <a:avLst/>
          </a:prstGeom>
          <a:solidFill>
            <a:srgbClr val="24283D"/>
          </a:solidFill>
          <a:ln>
            <a:noFill/>
          </a:ln>
        </p:spPr>
      </p:sp>
      <p:sp>
        <p:nvSpPr>
          <p:cNvPr id="11" name="Text 11"/>
          <p:cNvSpPr txBox="1"/>
          <p:nvPr/>
        </p:nvSpPr>
        <p:spPr>
          <a:xfrm>
            <a:off x="742950" y="3362325"/>
            <a:ext cx="9906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AFA3FF"/>
                </a:solidFill>
                <a:latin typeface="Consolas"/>
              </a:rPr>
              <a:t>. 0</a:t>
            </a:r>
            <a:endParaRPr lang="en-US" sz="2325"/>
          </a:p>
        </p:txBody>
      </p:sp>
      <p:sp>
        <p:nvSpPr>
          <p:cNvPr id="12" name="Text 12"/>
          <p:cNvSpPr txBox="1"/>
          <p:nvPr/>
        </p:nvSpPr>
        <p:spPr>
          <a:xfrm>
            <a:off x="723900" y="3952875"/>
            <a:ext cx="1028700" cy="428625"/>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A7BBD0"/>
                </a:solidFill>
                <a:latin typeface="Arial"/>
              </a:rPr>
              <a:t>Network</a:t>
            </a:r>
            <a:endParaRPr lang="en-US" sz="1200"/>
          </a:p>
        </p:txBody>
      </p:sp>
      <p:sp>
        <p:nvSpPr>
          <p:cNvPr id="13" name="Shape 13"/>
          <p:cNvSpPr/>
          <p:nvPr/>
        </p:nvSpPr>
        <p:spPr>
          <a:xfrm>
            <a:off x="1990725" y="3143250"/>
            <a:ext cx="1257300" cy="1428750"/>
          </a:xfrm>
          <a:prstGeom prst="roundRect">
            <a:avLst/>
          </a:prstGeom>
          <a:solidFill>
            <a:srgbClr val="102236"/>
          </a:solidFill>
          <a:ln>
            <a:noFill/>
          </a:ln>
        </p:spPr>
      </p:sp>
      <p:sp>
        <p:nvSpPr>
          <p:cNvPr id="14" name="Text 14"/>
          <p:cNvSpPr txBox="1"/>
          <p:nvPr/>
        </p:nvSpPr>
        <p:spPr>
          <a:xfrm>
            <a:off x="2124075" y="3362325"/>
            <a:ext cx="9906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53DEEA"/>
                </a:solidFill>
                <a:latin typeface="Consolas"/>
              </a:rPr>
              <a:t>. 1</a:t>
            </a:r>
            <a:endParaRPr lang="en-US" sz="2325"/>
          </a:p>
        </p:txBody>
      </p:sp>
      <p:sp>
        <p:nvSpPr>
          <p:cNvPr id="15" name="Text 15"/>
          <p:cNvSpPr txBox="1"/>
          <p:nvPr/>
        </p:nvSpPr>
        <p:spPr>
          <a:xfrm>
            <a:off x="2105025" y="3952875"/>
            <a:ext cx="1028700" cy="428625"/>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A7BBD0"/>
                </a:solidFill>
                <a:latin typeface="Arial"/>
              </a:rPr>
              <a:t>Usable host</a:t>
            </a:r>
            <a:endParaRPr lang="en-US" sz="1200"/>
          </a:p>
        </p:txBody>
      </p:sp>
      <p:sp>
        <p:nvSpPr>
          <p:cNvPr id="16" name="Shape 16"/>
          <p:cNvSpPr/>
          <p:nvPr/>
        </p:nvSpPr>
        <p:spPr>
          <a:xfrm>
            <a:off x="3371850" y="3143250"/>
            <a:ext cx="1257300" cy="1428750"/>
          </a:xfrm>
          <a:prstGeom prst="roundRect">
            <a:avLst/>
          </a:prstGeom>
          <a:solidFill>
            <a:srgbClr val="102236"/>
          </a:solidFill>
          <a:ln>
            <a:noFill/>
          </a:ln>
        </p:spPr>
      </p:sp>
      <p:sp>
        <p:nvSpPr>
          <p:cNvPr id="17" name="Text 17"/>
          <p:cNvSpPr txBox="1"/>
          <p:nvPr/>
        </p:nvSpPr>
        <p:spPr>
          <a:xfrm>
            <a:off x="3505200" y="3362325"/>
            <a:ext cx="9906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53DEEA"/>
                </a:solidFill>
                <a:latin typeface="Consolas"/>
              </a:rPr>
              <a:t>. 2</a:t>
            </a:r>
            <a:endParaRPr lang="en-US" sz="2325"/>
          </a:p>
        </p:txBody>
      </p:sp>
      <p:sp>
        <p:nvSpPr>
          <p:cNvPr id="18" name="Text 18"/>
          <p:cNvSpPr txBox="1"/>
          <p:nvPr/>
        </p:nvSpPr>
        <p:spPr>
          <a:xfrm>
            <a:off x="3486150" y="3952875"/>
            <a:ext cx="1028700" cy="428625"/>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A7BBD0"/>
                </a:solidFill>
                <a:latin typeface="Arial"/>
              </a:rPr>
              <a:t>Usable host</a:t>
            </a:r>
            <a:endParaRPr lang="en-US" sz="1200"/>
          </a:p>
        </p:txBody>
      </p:sp>
      <p:sp>
        <p:nvSpPr>
          <p:cNvPr id="19" name="Shape 19"/>
          <p:cNvSpPr/>
          <p:nvPr/>
        </p:nvSpPr>
        <p:spPr>
          <a:xfrm>
            <a:off x="4752975" y="3143250"/>
            <a:ext cx="1257300" cy="1428750"/>
          </a:xfrm>
          <a:prstGeom prst="roundRect">
            <a:avLst/>
          </a:prstGeom>
          <a:solidFill>
            <a:srgbClr val="102236"/>
          </a:solidFill>
          <a:ln>
            <a:noFill/>
          </a:ln>
        </p:spPr>
      </p:sp>
      <p:sp>
        <p:nvSpPr>
          <p:cNvPr id="20" name="Text 20"/>
          <p:cNvSpPr txBox="1"/>
          <p:nvPr/>
        </p:nvSpPr>
        <p:spPr>
          <a:xfrm>
            <a:off x="4886325" y="3362325"/>
            <a:ext cx="9906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53DEEA"/>
                </a:solidFill>
                <a:latin typeface="Consolas"/>
              </a:rPr>
              <a:t>. 3</a:t>
            </a:r>
            <a:endParaRPr lang="en-US" sz="2325"/>
          </a:p>
        </p:txBody>
      </p:sp>
      <p:sp>
        <p:nvSpPr>
          <p:cNvPr id="21" name="Text 21"/>
          <p:cNvSpPr txBox="1"/>
          <p:nvPr/>
        </p:nvSpPr>
        <p:spPr>
          <a:xfrm>
            <a:off x="4867275" y="3952875"/>
            <a:ext cx="1028700" cy="428625"/>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A7BBD0"/>
                </a:solidFill>
                <a:latin typeface="Arial"/>
              </a:rPr>
              <a:t>Usable host</a:t>
            </a:r>
            <a:endParaRPr lang="en-US" sz="1200"/>
          </a:p>
        </p:txBody>
      </p:sp>
      <p:sp>
        <p:nvSpPr>
          <p:cNvPr id="22" name="Shape 22"/>
          <p:cNvSpPr/>
          <p:nvPr/>
        </p:nvSpPr>
        <p:spPr>
          <a:xfrm>
            <a:off x="6134100" y="3143250"/>
            <a:ext cx="1257300" cy="1428750"/>
          </a:xfrm>
          <a:prstGeom prst="roundRect">
            <a:avLst/>
          </a:prstGeom>
          <a:solidFill>
            <a:srgbClr val="102236"/>
          </a:solidFill>
          <a:ln>
            <a:noFill/>
          </a:ln>
        </p:spPr>
      </p:sp>
      <p:sp>
        <p:nvSpPr>
          <p:cNvPr id="23" name="Text 23"/>
          <p:cNvSpPr txBox="1"/>
          <p:nvPr/>
        </p:nvSpPr>
        <p:spPr>
          <a:xfrm>
            <a:off x="6267450" y="3362325"/>
            <a:ext cx="9906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53DEEA"/>
                </a:solidFill>
                <a:latin typeface="Consolas"/>
              </a:rPr>
              <a:t>. 4</a:t>
            </a:r>
            <a:endParaRPr lang="en-US" sz="2325"/>
          </a:p>
        </p:txBody>
      </p:sp>
      <p:sp>
        <p:nvSpPr>
          <p:cNvPr id="24" name="Text 24"/>
          <p:cNvSpPr txBox="1"/>
          <p:nvPr/>
        </p:nvSpPr>
        <p:spPr>
          <a:xfrm>
            <a:off x="6248400" y="3952875"/>
            <a:ext cx="1028700" cy="428625"/>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A7BBD0"/>
                </a:solidFill>
                <a:latin typeface="Arial"/>
              </a:rPr>
              <a:t>Usable host</a:t>
            </a:r>
            <a:endParaRPr lang="en-US" sz="1200"/>
          </a:p>
        </p:txBody>
      </p:sp>
      <p:sp>
        <p:nvSpPr>
          <p:cNvPr id="25" name="Shape 25"/>
          <p:cNvSpPr/>
          <p:nvPr/>
        </p:nvSpPr>
        <p:spPr>
          <a:xfrm>
            <a:off x="7515225" y="3143250"/>
            <a:ext cx="1257300" cy="1428750"/>
          </a:xfrm>
          <a:prstGeom prst="roundRect">
            <a:avLst/>
          </a:prstGeom>
          <a:solidFill>
            <a:srgbClr val="102236"/>
          </a:solidFill>
          <a:ln>
            <a:noFill/>
          </a:ln>
        </p:spPr>
      </p:sp>
      <p:sp>
        <p:nvSpPr>
          <p:cNvPr id="26" name="Text 26"/>
          <p:cNvSpPr txBox="1"/>
          <p:nvPr/>
        </p:nvSpPr>
        <p:spPr>
          <a:xfrm>
            <a:off x="7648575" y="3362325"/>
            <a:ext cx="9906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53DEEA"/>
                </a:solidFill>
                <a:latin typeface="Consolas"/>
              </a:rPr>
              <a:t>. 5</a:t>
            </a:r>
            <a:endParaRPr lang="en-US" sz="2325"/>
          </a:p>
        </p:txBody>
      </p:sp>
      <p:sp>
        <p:nvSpPr>
          <p:cNvPr id="27" name="Text 27"/>
          <p:cNvSpPr txBox="1"/>
          <p:nvPr/>
        </p:nvSpPr>
        <p:spPr>
          <a:xfrm>
            <a:off x="7629525" y="3952875"/>
            <a:ext cx="1028700" cy="428625"/>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A7BBD0"/>
                </a:solidFill>
                <a:latin typeface="Arial"/>
              </a:rPr>
              <a:t>Usable host</a:t>
            </a:r>
            <a:endParaRPr lang="en-US" sz="1200"/>
          </a:p>
        </p:txBody>
      </p:sp>
      <p:sp>
        <p:nvSpPr>
          <p:cNvPr id="28" name="Shape 28"/>
          <p:cNvSpPr/>
          <p:nvPr/>
        </p:nvSpPr>
        <p:spPr>
          <a:xfrm>
            <a:off x="8896350" y="3143250"/>
            <a:ext cx="1257300" cy="1428750"/>
          </a:xfrm>
          <a:prstGeom prst="roundRect">
            <a:avLst/>
          </a:prstGeom>
          <a:solidFill>
            <a:srgbClr val="102236"/>
          </a:solidFill>
          <a:ln>
            <a:noFill/>
          </a:ln>
        </p:spPr>
      </p:sp>
      <p:sp>
        <p:nvSpPr>
          <p:cNvPr id="29" name="Text 29"/>
          <p:cNvSpPr txBox="1"/>
          <p:nvPr/>
        </p:nvSpPr>
        <p:spPr>
          <a:xfrm>
            <a:off x="9029700" y="3362325"/>
            <a:ext cx="9906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53DEEA"/>
                </a:solidFill>
                <a:latin typeface="Consolas"/>
              </a:rPr>
              <a:t>. 6</a:t>
            </a:r>
            <a:endParaRPr lang="en-US" sz="2325"/>
          </a:p>
        </p:txBody>
      </p:sp>
      <p:sp>
        <p:nvSpPr>
          <p:cNvPr id="30" name="Text 30"/>
          <p:cNvSpPr txBox="1"/>
          <p:nvPr/>
        </p:nvSpPr>
        <p:spPr>
          <a:xfrm>
            <a:off x="9010650" y="3952875"/>
            <a:ext cx="1028700" cy="428625"/>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A7BBD0"/>
                </a:solidFill>
                <a:latin typeface="Arial"/>
              </a:rPr>
              <a:t>Usable host</a:t>
            </a:r>
            <a:endParaRPr lang="en-US" sz="1200"/>
          </a:p>
        </p:txBody>
      </p:sp>
      <p:sp>
        <p:nvSpPr>
          <p:cNvPr id="31" name="Shape 31"/>
          <p:cNvSpPr/>
          <p:nvPr/>
        </p:nvSpPr>
        <p:spPr>
          <a:xfrm>
            <a:off x="10277475" y="3143250"/>
            <a:ext cx="1257300" cy="1428750"/>
          </a:xfrm>
          <a:prstGeom prst="roundRect">
            <a:avLst/>
          </a:prstGeom>
          <a:solidFill>
            <a:srgbClr val="24283D"/>
          </a:solidFill>
          <a:ln>
            <a:noFill/>
          </a:ln>
        </p:spPr>
      </p:sp>
      <p:sp>
        <p:nvSpPr>
          <p:cNvPr id="32" name="Text 32"/>
          <p:cNvSpPr txBox="1"/>
          <p:nvPr/>
        </p:nvSpPr>
        <p:spPr>
          <a:xfrm>
            <a:off x="10410825" y="3362325"/>
            <a:ext cx="990600" cy="361950"/>
          </a:xfrm>
          <a:prstGeom prst="rect">
            <a:avLst/>
          </a:prstGeom>
          <a:noFill/>
          <a:ln>
            <a:noFill/>
          </a:ln>
        </p:spPr>
        <p:txBody>
          <a:bodyPr wrap="none" lIns="0" tIns="0" rIns="0" bIns="0" anchor="t">
            <a:noAutofit/>
          </a:bodyPr>
          <a:lstStyle/>
          <a:p>
            <a:pPr>
              <a:lnSpc>
                <a:spcPts val="2790"/>
              </a:lnSpc>
              <a:spcBef>
                <a:spcPts val="0"/>
              </a:spcBef>
              <a:spcAft>
                <a:spcPts val="0"/>
              </a:spcAft>
            </a:pPr>
            <a:r>
              <a:rPr lang="en-US" sz="2325" b="1">
                <a:solidFill>
                  <a:srgbClr val="AFA3FF"/>
                </a:solidFill>
                <a:latin typeface="Consolas"/>
              </a:rPr>
              <a:t>. 7</a:t>
            </a:r>
            <a:endParaRPr lang="en-US" sz="2325"/>
          </a:p>
        </p:txBody>
      </p:sp>
      <p:sp>
        <p:nvSpPr>
          <p:cNvPr id="33" name="Text 33"/>
          <p:cNvSpPr txBox="1"/>
          <p:nvPr/>
        </p:nvSpPr>
        <p:spPr>
          <a:xfrm>
            <a:off x="10391775" y="3952875"/>
            <a:ext cx="1028700" cy="428625"/>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A7BBD0"/>
                </a:solidFill>
                <a:latin typeface="Arial"/>
              </a:rPr>
              <a:t>Broadcast</a:t>
            </a:r>
            <a:endParaRPr lang="en-US" sz="1200"/>
          </a:p>
        </p:txBody>
      </p:sp>
      <p:sp>
        <p:nvSpPr>
          <p:cNvPr id="34" name="Text 34"/>
          <p:cNvSpPr txBox="1"/>
          <p:nvPr/>
        </p:nvSpPr>
        <p:spPr>
          <a:xfrm>
            <a:off x="609600" y="4914900"/>
            <a:ext cx="10972800" cy="361950"/>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A7BBD0"/>
                </a:solidFill>
                <a:latin typeface="Consolas"/>
              </a:rPr>
              <a:t>Mask 255.255.255.248     |     Usable range 192.168.1.1 - 192.168.1.6</a:t>
            </a:r>
            <a:endParaRPr lang="en-US" sz="1800"/>
          </a:p>
        </p:txBody>
      </p:sp>
      <p:sp>
        <p:nvSpPr>
          <p:cNvPr id="35" name="Shape 35"/>
          <p:cNvSpPr/>
          <p:nvPr/>
        </p:nvSpPr>
        <p:spPr>
          <a:xfrm>
            <a:off x="609600" y="5657850"/>
            <a:ext cx="10972800" cy="457200"/>
          </a:xfrm>
          <a:prstGeom prst="roundRect">
            <a:avLst/>
          </a:prstGeom>
          <a:solidFill>
            <a:srgbClr val="122E40"/>
          </a:solidFill>
          <a:ln>
            <a:noFill/>
          </a:ln>
        </p:spPr>
      </p:sp>
      <p:sp>
        <p:nvSpPr>
          <p:cNvPr id="36" name="Text 36"/>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Total addresses and usable hosts are different quantities.</a:t>
            </a:r>
            <a:endParaRPr lang="en-US" sz="1575"/>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Follow the complete workflow">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Follow the complete workflow</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Each stage produces structured information for the next stage.</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06 / 12</a:t>
            </a:r>
            <a:endParaRPr lang="en-US" sz="1200"/>
          </a:p>
        </p:txBody>
      </p:sp>
      <p:sp>
        <p:nvSpPr>
          <p:cNvPr id="9" name="Shape 9"/>
          <p:cNvSpPr/>
          <p:nvPr/>
        </p:nvSpPr>
        <p:spPr>
          <a:xfrm>
            <a:off x="609600" y="2466975"/>
            <a:ext cx="2628900" cy="1381125"/>
          </a:xfrm>
          <a:prstGeom prst="roundRect">
            <a:avLst/>
          </a:prstGeom>
          <a:solidFill>
            <a:srgbClr val="102236"/>
          </a:solidFill>
          <a:ln>
            <a:noFill/>
          </a:ln>
        </p:spPr>
      </p:sp>
      <p:sp>
        <p:nvSpPr>
          <p:cNvPr id="10" name="Text 10"/>
          <p:cNvSpPr txBox="1"/>
          <p:nvPr/>
        </p:nvSpPr>
        <p:spPr>
          <a:xfrm>
            <a:off x="781050" y="2647950"/>
            <a:ext cx="2286000" cy="46672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53DEEA"/>
                </a:solidFill>
                <a:latin typeface="Arial"/>
              </a:rPr>
              <a:t>01  Authorized input</a:t>
            </a:r>
            <a:endParaRPr lang="en-US" sz="1725"/>
          </a:p>
        </p:txBody>
      </p:sp>
      <p:sp>
        <p:nvSpPr>
          <p:cNvPr id="11" name="Text 11"/>
          <p:cNvSpPr txBox="1"/>
          <p:nvPr/>
        </p:nvSpPr>
        <p:spPr>
          <a:xfrm>
            <a:off x="781050" y="3248025"/>
            <a:ext cx="2286000" cy="4762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Arial"/>
              </a:rPr>
              <a:t>Choose an allowed CIDR.</a:t>
            </a:r>
            <a:endParaRPr lang="en-US" sz="1575"/>
          </a:p>
        </p:txBody>
      </p:sp>
      <p:sp>
        <p:nvSpPr>
          <p:cNvPr id="12" name="Text 12"/>
          <p:cNvSpPr txBox="1"/>
          <p:nvPr/>
        </p:nvSpPr>
        <p:spPr>
          <a:xfrm>
            <a:off x="3228975" y="2905125"/>
            <a:ext cx="1905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AFA3FF"/>
                </a:solidFill>
                <a:latin typeface="Arial"/>
              </a:rPr>
              <a:t>&gt;</a:t>
            </a:r>
            <a:endParaRPr lang="en-US" sz="1725"/>
          </a:p>
        </p:txBody>
      </p:sp>
      <p:sp>
        <p:nvSpPr>
          <p:cNvPr id="13" name="Shape 13"/>
          <p:cNvSpPr/>
          <p:nvPr/>
        </p:nvSpPr>
        <p:spPr>
          <a:xfrm>
            <a:off x="3390900" y="2466975"/>
            <a:ext cx="2628900" cy="1381125"/>
          </a:xfrm>
          <a:prstGeom prst="roundRect">
            <a:avLst/>
          </a:prstGeom>
          <a:solidFill>
            <a:srgbClr val="102236"/>
          </a:solidFill>
          <a:ln>
            <a:noFill/>
          </a:ln>
        </p:spPr>
      </p:sp>
      <p:sp>
        <p:nvSpPr>
          <p:cNvPr id="14" name="Text 14"/>
          <p:cNvSpPr txBox="1"/>
          <p:nvPr/>
        </p:nvSpPr>
        <p:spPr>
          <a:xfrm>
            <a:off x="3562350" y="2647950"/>
            <a:ext cx="2286000" cy="46672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53DEEA"/>
                </a:solidFill>
                <a:latin typeface="Arial"/>
              </a:rPr>
              <a:t>02  Validation</a:t>
            </a:r>
            <a:endParaRPr lang="en-US" sz="1725"/>
          </a:p>
        </p:txBody>
      </p:sp>
      <p:sp>
        <p:nvSpPr>
          <p:cNvPr id="15" name="Text 15"/>
          <p:cNvSpPr txBox="1"/>
          <p:nvPr/>
        </p:nvSpPr>
        <p:spPr>
          <a:xfrm>
            <a:off x="3562350" y="3248025"/>
            <a:ext cx="2286000" cy="4762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Arial"/>
              </a:rPr>
              <a:t>Check syntax and scope.</a:t>
            </a:r>
            <a:endParaRPr lang="en-US" sz="1575"/>
          </a:p>
        </p:txBody>
      </p:sp>
      <p:sp>
        <p:nvSpPr>
          <p:cNvPr id="16" name="Text 16"/>
          <p:cNvSpPr txBox="1"/>
          <p:nvPr/>
        </p:nvSpPr>
        <p:spPr>
          <a:xfrm>
            <a:off x="6010275" y="2905125"/>
            <a:ext cx="1905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AFA3FF"/>
                </a:solidFill>
                <a:latin typeface="Arial"/>
              </a:rPr>
              <a:t>&gt;</a:t>
            </a:r>
            <a:endParaRPr lang="en-US" sz="1725"/>
          </a:p>
        </p:txBody>
      </p:sp>
      <p:sp>
        <p:nvSpPr>
          <p:cNvPr id="17" name="Shape 17"/>
          <p:cNvSpPr/>
          <p:nvPr/>
        </p:nvSpPr>
        <p:spPr>
          <a:xfrm>
            <a:off x="6172200" y="2466975"/>
            <a:ext cx="2628900" cy="1381125"/>
          </a:xfrm>
          <a:prstGeom prst="roundRect">
            <a:avLst/>
          </a:prstGeom>
          <a:solidFill>
            <a:srgbClr val="102236"/>
          </a:solidFill>
          <a:ln>
            <a:noFill/>
          </a:ln>
        </p:spPr>
      </p:sp>
      <p:sp>
        <p:nvSpPr>
          <p:cNvPr id="18" name="Text 18"/>
          <p:cNvSpPr txBox="1"/>
          <p:nvPr/>
        </p:nvSpPr>
        <p:spPr>
          <a:xfrm>
            <a:off x="6343650" y="2647950"/>
            <a:ext cx="2286000" cy="46672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53DEEA"/>
                </a:solidFill>
                <a:latin typeface="Arial"/>
              </a:rPr>
              <a:t>03  Subnet calculation</a:t>
            </a:r>
            <a:endParaRPr lang="en-US" sz="1725"/>
          </a:p>
        </p:txBody>
      </p:sp>
      <p:sp>
        <p:nvSpPr>
          <p:cNvPr id="19" name="Text 19"/>
          <p:cNvSpPr txBox="1"/>
          <p:nvPr/>
        </p:nvSpPr>
        <p:spPr>
          <a:xfrm>
            <a:off x="6343650" y="3248025"/>
            <a:ext cx="2286000" cy="4762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Arial"/>
              </a:rPr>
              <a:t>Find range and counts.</a:t>
            </a:r>
            <a:endParaRPr lang="en-US" sz="1575"/>
          </a:p>
        </p:txBody>
      </p:sp>
      <p:sp>
        <p:nvSpPr>
          <p:cNvPr id="20" name="Text 20"/>
          <p:cNvSpPr txBox="1"/>
          <p:nvPr/>
        </p:nvSpPr>
        <p:spPr>
          <a:xfrm>
            <a:off x="8791575" y="2905125"/>
            <a:ext cx="1905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AFA3FF"/>
                </a:solidFill>
                <a:latin typeface="Arial"/>
              </a:rPr>
              <a:t>&gt;</a:t>
            </a:r>
            <a:endParaRPr lang="en-US" sz="1725"/>
          </a:p>
        </p:txBody>
      </p:sp>
      <p:sp>
        <p:nvSpPr>
          <p:cNvPr id="21" name="Shape 21"/>
          <p:cNvSpPr/>
          <p:nvPr/>
        </p:nvSpPr>
        <p:spPr>
          <a:xfrm>
            <a:off x="8953500" y="2466975"/>
            <a:ext cx="2628900" cy="1381125"/>
          </a:xfrm>
          <a:prstGeom prst="roundRect">
            <a:avLst/>
          </a:prstGeom>
          <a:solidFill>
            <a:srgbClr val="102236"/>
          </a:solidFill>
          <a:ln>
            <a:noFill/>
          </a:ln>
        </p:spPr>
      </p:sp>
      <p:sp>
        <p:nvSpPr>
          <p:cNvPr id="22" name="Text 22"/>
          <p:cNvSpPr txBox="1"/>
          <p:nvPr/>
        </p:nvSpPr>
        <p:spPr>
          <a:xfrm>
            <a:off x="9124950" y="2647950"/>
            <a:ext cx="2286000" cy="46672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53DEEA"/>
                </a:solidFill>
                <a:latin typeface="Arial"/>
              </a:rPr>
              <a:t>04  Candidates</a:t>
            </a:r>
            <a:endParaRPr lang="en-US" sz="1725"/>
          </a:p>
        </p:txBody>
      </p:sp>
      <p:sp>
        <p:nvSpPr>
          <p:cNvPr id="23" name="Text 23"/>
          <p:cNvSpPr txBox="1"/>
          <p:nvPr/>
        </p:nvSpPr>
        <p:spPr>
          <a:xfrm>
            <a:off x="9124950" y="3248025"/>
            <a:ext cx="2286000" cy="4762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Arial"/>
              </a:rPr>
              <a:t>List eligible addresses.</a:t>
            </a:r>
            <a:endParaRPr lang="en-US" sz="1575"/>
          </a:p>
        </p:txBody>
      </p:sp>
      <p:sp>
        <p:nvSpPr>
          <p:cNvPr id="24" name="Shape 24"/>
          <p:cNvSpPr/>
          <p:nvPr/>
        </p:nvSpPr>
        <p:spPr>
          <a:xfrm>
            <a:off x="609600" y="4057650"/>
            <a:ext cx="2628900" cy="1381125"/>
          </a:xfrm>
          <a:prstGeom prst="roundRect">
            <a:avLst/>
          </a:prstGeom>
          <a:solidFill>
            <a:srgbClr val="102236"/>
          </a:solidFill>
          <a:ln>
            <a:noFill/>
          </a:ln>
        </p:spPr>
      </p:sp>
      <p:sp>
        <p:nvSpPr>
          <p:cNvPr id="25" name="Text 25"/>
          <p:cNvSpPr txBox="1"/>
          <p:nvPr/>
        </p:nvSpPr>
        <p:spPr>
          <a:xfrm>
            <a:off x="781050" y="4238625"/>
            <a:ext cx="2286000" cy="46672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53DEEA"/>
                </a:solidFill>
                <a:latin typeface="Arial"/>
              </a:rPr>
              <a:t>05  Discovery</a:t>
            </a:r>
            <a:endParaRPr lang="en-US" sz="1725"/>
          </a:p>
        </p:txBody>
      </p:sp>
      <p:sp>
        <p:nvSpPr>
          <p:cNvPr id="26" name="Text 26"/>
          <p:cNvSpPr txBox="1"/>
          <p:nvPr/>
        </p:nvSpPr>
        <p:spPr>
          <a:xfrm>
            <a:off x="781050" y="4838700"/>
            <a:ext cx="2286000" cy="4762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Arial"/>
              </a:rPr>
              <a:t>Record probe responses.</a:t>
            </a:r>
            <a:endParaRPr lang="en-US" sz="1575"/>
          </a:p>
        </p:txBody>
      </p:sp>
      <p:sp>
        <p:nvSpPr>
          <p:cNvPr id="27" name="Text 27"/>
          <p:cNvSpPr txBox="1"/>
          <p:nvPr/>
        </p:nvSpPr>
        <p:spPr>
          <a:xfrm>
            <a:off x="3228975" y="4495800"/>
            <a:ext cx="1905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AFA3FF"/>
                </a:solidFill>
                <a:latin typeface="Arial"/>
              </a:rPr>
              <a:t>&gt;</a:t>
            </a:r>
            <a:endParaRPr lang="en-US" sz="1725"/>
          </a:p>
        </p:txBody>
      </p:sp>
      <p:sp>
        <p:nvSpPr>
          <p:cNvPr id="28" name="Shape 28"/>
          <p:cNvSpPr/>
          <p:nvPr/>
        </p:nvSpPr>
        <p:spPr>
          <a:xfrm>
            <a:off x="3390900" y="4057650"/>
            <a:ext cx="2628900" cy="1381125"/>
          </a:xfrm>
          <a:prstGeom prst="roundRect">
            <a:avLst/>
          </a:prstGeom>
          <a:solidFill>
            <a:srgbClr val="102236"/>
          </a:solidFill>
          <a:ln>
            <a:noFill/>
          </a:ln>
        </p:spPr>
      </p:sp>
      <p:sp>
        <p:nvSpPr>
          <p:cNvPr id="29" name="Text 29"/>
          <p:cNvSpPr txBox="1"/>
          <p:nvPr/>
        </p:nvSpPr>
        <p:spPr>
          <a:xfrm>
            <a:off x="3562350" y="4238625"/>
            <a:ext cx="2286000" cy="46672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53DEEA"/>
                </a:solidFill>
                <a:latin typeface="Arial"/>
              </a:rPr>
              <a:t>06  TCP profiling</a:t>
            </a:r>
            <a:endParaRPr lang="en-US" sz="1725"/>
          </a:p>
        </p:txBody>
      </p:sp>
      <p:sp>
        <p:nvSpPr>
          <p:cNvPr id="30" name="Text 30"/>
          <p:cNvSpPr txBox="1"/>
          <p:nvPr/>
        </p:nvSpPr>
        <p:spPr>
          <a:xfrm>
            <a:off x="3562350" y="4838700"/>
            <a:ext cx="2286000" cy="4762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Arial"/>
              </a:rPr>
              <a:t>Try selected TCP ports.</a:t>
            </a:r>
            <a:endParaRPr lang="en-US" sz="1575"/>
          </a:p>
        </p:txBody>
      </p:sp>
      <p:sp>
        <p:nvSpPr>
          <p:cNvPr id="31" name="Text 31"/>
          <p:cNvSpPr txBox="1"/>
          <p:nvPr/>
        </p:nvSpPr>
        <p:spPr>
          <a:xfrm>
            <a:off x="6010275" y="4495800"/>
            <a:ext cx="1905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AFA3FF"/>
                </a:solidFill>
                <a:latin typeface="Arial"/>
              </a:rPr>
              <a:t>&gt;</a:t>
            </a:r>
            <a:endParaRPr lang="en-US" sz="1725"/>
          </a:p>
        </p:txBody>
      </p:sp>
      <p:sp>
        <p:nvSpPr>
          <p:cNvPr id="32" name="Shape 32"/>
          <p:cNvSpPr/>
          <p:nvPr/>
        </p:nvSpPr>
        <p:spPr>
          <a:xfrm>
            <a:off x="6172200" y="4057650"/>
            <a:ext cx="2628900" cy="1381125"/>
          </a:xfrm>
          <a:prstGeom prst="roundRect">
            <a:avLst/>
          </a:prstGeom>
          <a:solidFill>
            <a:srgbClr val="102236"/>
          </a:solidFill>
          <a:ln>
            <a:noFill/>
          </a:ln>
        </p:spPr>
      </p:sp>
      <p:sp>
        <p:nvSpPr>
          <p:cNvPr id="33" name="Text 33"/>
          <p:cNvSpPr txBox="1"/>
          <p:nvPr/>
        </p:nvSpPr>
        <p:spPr>
          <a:xfrm>
            <a:off x="6343650" y="4238625"/>
            <a:ext cx="2286000" cy="46672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53DEEA"/>
                </a:solidFill>
                <a:latin typeface="Arial"/>
              </a:rPr>
              <a:t>07  Classification</a:t>
            </a:r>
            <a:endParaRPr lang="en-US" sz="1725"/>
          </a:p>
        </p:txBody>
      </p:sp>
      <p:sp>
        <p:nvSpPr>
          <p:cNvPr id="34" name="Text 34"/>
          <p:cNvSpPr txBox="1"/>
          <p:nvPr/>
        </p:nvSpPr>
        <p:spPr>
          <a:xfrm>
            <a:off x="6343650" y="4838700"/>
            <a:ext cx="2286000" cy="4762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Arial"/>
              </a:rPr>
              <a:t>Interpret each outcome.</a:t>
            </a:r>
            <a:endParaRPr lang="en-US" sz="1575"/>
          </a:p>
        </p:txBody>
      </p:sp>
      <p:sp>
        <p:nvSpPr>
          <p:cNvPr id="35" name="Text 35"/>
          <p:cNvSpPr txBox="1"/>
          <p:nvPr/>
        </p:nvSpPr>
        <p:spPr>
          <a:xfrm>
            <a:off x="8791575" y="4495800"/>
            <a:ext cx="1905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AFA3FF"/>
                </a:solidFill>
                <a:latin typeface="Arial"/>
              </a:rPr>
              <a:t>&gt;</a:t>
            </a:r>
            <a:endParaRPr lang="en-US" sz="1725"/>
          </a:p>
        </p:txBody>
      </p:sp>
      <p:sp>
        <p:nvSpPr>
          <p:cNvPr id="36" name="Shape 36"/>
          <p:cNvSpPr/>
          <p:nvPr/>
        </p:nvSpPr>
        <p:spPr>
          <a:xfrm>
            <a:off x="8953500" y="4057650"/>
            <a:ext cx="2628900" cy="1381125"/>
          </a:xfrm>
          <a:prstGeom prst="roundRect">
            <a:avLst/>
          </a:prstGeom>
          <a:solidFill>
            <a:srgbClr val="102236"/>
          </a:solidFill>
          <a:ln>
            <a:noFill/>
          </a:ln>
        </p:spPr>
      </p:sp>
      <p:sp>
        <p:nvSpPr>
          <p:cNvPr id="37" name="Text 37"/>
          <p:cNvSpPr txBox="1"/>
          <p:nvPr/>
        </p:nvSpPr>
        <p:spPr>
          <a:xfrm>
            <a:off x="9124950" y="4238625"/>
            <a:ext cx="2286000" cy="46672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1">
                <a:solidFill>
                  <a:srgbClr val="53DEEA"/>
                </a:solidFill>
                <a:latin typeface="Arial"/>
              </a:rPr>
              <a:t>08  Report</a:t>
            </a:r>
            <a:endParaRPr lang="en-US" sz="1725"/>
          </a:p>
        </p:txBody>
      </p:sp>
      <p:sp>
        <p:nvSpPr>
          <p:cNvPr id="38" name="Text 38"/>
          <p:cNvSpPr txBox="1"/>
          <p:nvPr/>
        </p:nvSpPr>
        <p:spPr>
          <a:xfrm>
            <a:off x="9124950" y="4838700"/>
            <a:ext cx="2286000" cy="4762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Arial"/>
              </a:rPr>
              <a:t>Summarize the evidence.</a:t>
            </a:r>
            <a:endParaRPr lang="en-US" sz="1575"/>
          </a:p>
        </p:txBody>
      </p:sp>
      <p:sp>
        <p:nvSpPr>
          <p:cNvPr id="39" name="Shape 39"/>
          <p:cNvSpPr/>
          <p:nvPr/>
        </p:nvSpPr>
        <p:spPr>
          <a:xfrm>
            <a:off x="609600" y="5657850"/>
            <a:ext cx="10972800" cy="457200"/>
          </a:xfrm>
          <a:prstGeom prst="roundRect">
            <a:avLst/>
          </a:prstGeom>
          <a:solidFill>
            <a:srgbClr val="122E40"/>
          </a:solidFill>
          <a:ln>
            <a:noFill/>
          </a:ln>
        </p:spPr>
      </p:sp>
      <p:sp>
        <p:nvSpPr>
          <p:cNvPr id="40" name="Text 40"/>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Website: illustrative discovery. Local CLI: bounded TCP checks of every allowed candidate.</a:t>
            </a:r>
            <a:endParaRPr lang="en-US" sz="1575"/>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Candidate, responsive host, or service?">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Candidate, responsive host, or service?</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These are three different levels of evidence.</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07 / 12</a:t>
            </a:r>
            <a:endParaRPr lang="en-US" sz="1200"/>
          </a:p>
        </p:txBody>
      </p:sp>
      <p:sp>
        <p:nvSpPr>
          <p:cNvPr id="9" name="Shape 9"/>
          <p:cNvSpPr/>
          <p:nvPr/>
        </p:nvSpPr>
        <p:spPr>
          <a:xfrm>
            <a:off x="609600" y="2466975"/>
            <a:ext cx="3371850" cy="2838450"/>
          </a:xfrm>
          <a:prstGeom prst="roundRect">
            <a:avLst/>
          </a:prstGeom>
          <a:solidFill>
            <a:srgbClr val="102236"/>
          </a:solidFill>
          <a:ln>
            <a:noFill/>
          </a:ln>
        </p:spPr>
      </p:sp>
      <p:sp>
        <p:nvSpPr>
          <p:cNvPr id="10" name="Text 10"/>
          <p:cNvSpPr txBox="1"/>
          <p:nvPr/>
        </p:nvSpPr>
        <p:spPr>
          <a:xfrm>
            <a:off x="838200" y="2686050"/>
            <a:ext cx="291465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53DEEA"/>
                </a:solidFill>
                <a:latin typeface="Arial"/>
              </a:rPr>
              <a:t>1  Candidate address</a:t>
            </a:r>
            <a:endParaRPr lang="en-US" sz="2025"/>
          </a:p>
        </p:txBody>
      </p:sp>
      <p:sp>
        <p:nvSpPr>
          <p:cNvPr id="11" name="Text 11"/>
          <p:cNvSpPr txBox="1"/>
          <p:nvPr/>
        </p:nvSpPr>
        <p:spPr>
          <a:xfrm>
            <a:off x="838200" y="3286125"/>
            <a:ext cx="2914650" cy="1885950"/>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Inside the chosen range.</a:t>
            </a:r>
            <a:endParaRPr lang="en-US" sz="1800"/>
          </a:p>
          <a:p>
            <a:pPr>
              <a:lnSpc>
                <a:spcPts val="2160"/>
              </a:lnSpc>
              <a:spcBef>
                <a:spcPts val="0"/>
              </a:spcBef>
              <a:spcAft>
                <a:spcPts val="0"/>
              </a:spcAft>
            </a:pPr>
            <a:r>
              <a:rPr lang="en-US" sz="1800" b="0">
                <a:solidFill>
                  <a:srgbClr val="EEF6FF"/>
                </a:solidFill>
                <a:latin typeface="Arial"/>
              </a:rPr>
              <a:t>Eligible for a check.</a:t>
            </a:r>
            <a:endParaRPr lang="en-US" sz="1800"/>
          </a:p>
          <a:p>
            <a:pPr>
              <a:lnSpc>
                <a:spcPts val="2160"/>
              </a:lnSpc>
              <a:spcBef>
                <a:spcPts val="0"/>
              </a:spcBef>
              <a:spcAft>
                <a:spcPts val="0"/>
              </a:spcAft>
            </a:pPr>
            <a:r>
              <a:rPr lang="en-US" sz="1800" b="0">
                <a:solidFill>
                  <a:srgbClr val="EEF6FF"/>
                </a:solidFill>
                <a:latin typeface="Arial"/>
              </a:rPr>
              <a:t>No response proven yet.</a:t>
            </a:r>
            <a:endParaRPr lang="en-US" sz="1800"/>
          </a:p>
        </p:txBody>
      </p:sp>
      <p:sp>
        <p:nvSpPr>
          <p:cNvPr id="12" name="Shape 12"/>
          <p:cNvSpPr/>
          <p:nvPr/>
        </p:nvSpPr>
        <p:spPr>
          <a:xfrm>
            <a:off x="4267200" y="2466975"/>
            <a:ext cx="3371850" cy="2838450"/>
          </a:xfrm>
          <a:prstGeom prst="roundRect">
            <a:avLst/>
          </a:prstGeom>
          <a:solidFill>
            <a:srgbClr val="102236"/>
          </a:solidFill>
          <a:ln>
            <a:noFill/>
          </a:ln>
        </p:spPr>
      </p:sp>
      <p:sp>
        <p:nvSpPr>
          <p:cNvPr id="13" name="Text 13"/>
          <p:cNvSpPr txBox="1"/>
          <p:nvPr/>
        </p:nvSpPr>
        <p:spPr>
          <a:xfrm>
            <a:off x="4495800" y="2686050"/>
            <a:ext cx="291465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AFA3FF"/>
                </a:solidFill>
                <a:latin typeface="Arial"/>
              </a:rPr>
              <a:t>2  Responsive host</a:t>
            </a:r>
            <a:endParaRPr lang="en-US" sz="2025"/>
          </a:p>
        </p:txBody>
      </p:sp>
      <p:sp>
        <p:nvSpPr>
          <p:cNvPr id="14" name="Text 14"/>
          <p:cNvSpPr txBox="1"/>
          <p:nvPr/>
        </p:nvSpPr>
        <p:spPr>
          <a:xfrm>
            <a:off x="4495800" y="3286125"/>
            <a:ext cx="2914650" cy="1885950"/>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Answered a selected</a:t>
            </a:r>
            <a:endParaRPr lang="en-US" sz="1800"/>
          </a:p>
          <a:p>
            <a:pPr>
              <a:lnSpc>
                <a:spcPts val="2160"/>
              </a:lnSpc>
              <a:spcBef>
                <a:spcPts val="0"/>
              </a:spcBef>
              <a:spcAft>
                <a:spcPts val="0"/>
              </a:spcAft>
            </a:pPr>
            <a:r>
              <a:rPr lang="en-US" sz="1800" b="0">
                <a:solidFill>
                  <a:srgbClr val="EEF6FF"/>
                </a:solidFill>
                <a:latin typeface="Arial"/>
              </a:rPr>
              <a:t>host discovery check.</a:t>
            </a:r>
            <a:endParaRPr lang="en-US" sz="1800"/>
          </a:p>
          <a:p>
            <a:pPr>
              <a:lnSpc>
                <a:spcPts val="2160"/>
              </a:lnSpc>
              <a:spcBef>
                <a:spcPts val="0"/>
              </a:spcBef>
              <a:spcAft>
                <a:spcPts val="0"/>
              </a:spcAft>
            </a:pPr>
            <a:r>
              <a:rPr lang="en-US" sz="1800" b="0">
                <a:solidFill>
                  <a:srgbClr val="EEF6FF"/>
                </a:solidFill>
                <a:latin typeface="Arial"/>
              </a:rPr>
              <a:t>Evidence for that check.</a:t>
            </a:r>
            <a:endParaRPr lang="en-US" sz="1800"/>
          </a:p>
        </p:txBody>
      </p:sp>
      <p:sp>
        <p:nvSpPr>
          <p:cNvPr id="15" name="Shape 15"/>
          <p:cNvSpPr/>
          <p:nvPr/>
        </p:nvSpPr>
        <p:spPr>
          <a:xfrm>
            <a:off x="7924800" y="2466975"/>
            <a:ext cx="3657600" cy="2838450"/>
          </a:xfrm>
          <a:prstGeom prst="roundRect">
            <a:avLst/>
          </a:prstGeom>
          <a:solidFill>
            <a:srgbClr val="102236"/>
          </a:solidFill>
          <a:ln>
            <a:noFill/>
          </a:ln>
        </p:spPr>
      </p:sp>
      <p:sp>
        <p:nvSpPr>
          <p:cNvPr id="16" name="Text 16"/>
          <p:cNvSpPr txBox="1"/>
          <p:nvPr/>
        </p:nvSpPr>
        <p:spPr>
          <a:xfrm>
            <a:off x="8153400" y="2686050"/>
            <a:ext cx="32004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65D7AA"/>
                </a:solidFill>
                <a:latin typeface="Arial"/>
              </a:rPr>
              <a:t>3  TCP endpoint</a:t>
            </a:r>
            <a:endParaRPr lang="en-US" sz="2025"/>
          </a:p>
        </p:txBody>
      </p:sp>
      <p:sp>
        <p:nvSpPr>
          <p:cNvPr id="17" name="Text 17"/>
          <p:cNvSpPr txBox="1"/>
          <p:nvPr/>
        </p:nvSpPr>
        <p:spPr>
          <a:xfrm>
            <a:off x="8153400" y="3286125"/>
            <a:ext cx="3200400" cy="1885950"/>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Accepted a connection</a:t>
            </a:r>
            <a:endParaRPr lang="en-US" sz="1800"/>
          </a:p>
          <a:p>
            <a:pPr>
              <a:lnSpc>
                <a:spcPts val="2160"/>
              </a:lnSpc>
              <a:spcBef>
                <a:spcPts val="0"/>
              </a:spcBef>
              <a:spcAft>
                <a:spcPts val="0"/>
              </a:spcAft>
            </a:pPr>
            <a:r>
              <a:rPr lang="en-US" sz="1800" b="0">
                <a:solidFill>
                  <a:srgbClr val="EEF6FF"/>
                </a:solidFill>
                <a:latin typeface="Arial"/>
              </a:rPr>
              <a:t>on one selected port.</a:t>
            </a:r>
            <a:endParaRPr lang="en-US" sz="1800"/>
          </a:p>
          <a:p>
            <a:pPr>
              <a:lnSpc>
                <a:spcPts val="2160"/>
              </a:lnSpc>
              <a:spcBef>
                <a:spcPts val="0"/>
              </a:spcBef>
              <a:spcAft>
                <a:spcPts val="0"/>
              </a:spcAft>
            </a:pPr>
            <a:r>
              <a:rPr lang="en-US" sz="1800" b="0">
                <a:solidFill>
                  <a:srgbClr val="EEF6FF"/>
                </a:solidFill>
                <a:latin typeface="Arial"/>
              </a:rPr>
              <a:t>Service identity unproven.</a:t>
            </a:r>
            <a:endParaRPr lang="en-US" sz="1800"/>
          </a:p>
        </p:txBody>
      </p:sp>
      <p:sp>
        <p:nvSpPr>
          <p:cNvPr id="18" name="Shape 18"/>
          <p:cNvSpPr/>
          <p:nvPr/>
        </p:nvSpPr>
        <p:spPr>
          <a:xfrm>
            <a:off x="609600" y="5657850"/>
            <a:ext cx="10972800" cy="457200"/>
          </a:xfrm>
          <a:prstGeom prst="roundRect">
            <a:avLst/>
          </a:prstGeom>
          <a:solidFill>
            <a:srgbClr val="122E40"/>
          </a:solidFill>
          <a:ln>
            <a:noFill/>
          </a:ln>
        </p:spPr>
      </p:sp>
      <p:sp>
        <p:nvSpPr>
          <p:cNvPr id="19" name="Text 19"/>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No response does not prove that a machine is offline.</a:t>
            </a:r>
            <a:endParaRPr lang="en-US" sz="1575"/>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How do we classify a TCP port?">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How do we classify a TCP port?</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A normal TCP connection attempt provides an outcome for one address and port.</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08 / 12</a:t>
            </a:r>
            <a:endParaRPr lang="en-US" sz="1200"/>
          </a:p>
        </p:txBody>
      </p:sp>
      <p:sp>
        <p:nvSpPr>
          <p:cNvPr id="9" name="Shape 9"/>
          <p:cNvSpPr/>
          <p:nvPr/>
        </p:nvSpPr>
        <p:spPr>
          <a:xfrm>
            <a:off x="609600" y="2409825"/>
            <a:ext cx="5334000" cy="1238250"/>
          </a:xfrm>
          <a:prstGeom prst="roundRect">
            <a:avLst/>
          </a:prstGeom>
          <a:solidFill>
            <a:srgbClr val="102236"/>
          </a:solidFill>
          <a:ln>
            <a:noFill/>
          </a:ln>
        </p:spPr>
      </p:sp>
      <p:sp>
        <p:nvSpPr>
          <p:cNvPr id="10" name="Text 10"/>
          <p:cNvSpPr txBox="1"/>
          <p:nvPr/>
        </p:nvSpPr>
        <p:spPr>
          <a:xfrm>
            <a:off x="819150" y="2590800"/>
            <a:ext cx="4914900" cy="304800"/>
          </a:xfrm>
          <a:prstGeom prst="rect">
            <a:avLst/>
          </a:prstGeom>
          <a:noFill/>
          <a:ln>
            <a:noFill/>
          </a:ln>
        </p:spPr>
        <p:txBody>
          <a:bodyPr wrap="none" lIns="0" tIns="0" rIns="0" bIns="0" anchor="t">
            <a:noAutofit/>
          </a:bodyPr>
          <a:lstStyle/>
          <a:p>
            <a:pPr>
              <a:lnSpc>
                <a:spcPts val="2250"/>
              </a:lnSpc>
              <a:spcBef>
                <a:spcPts val="0"/>
              </a:spcBef>
              <a:spcAft>
                <a:spcPts val="0"/>
              </a:spcAft>
            </a:pPr>
            <a:r>
              <a:rPr lang="en-US" sz="1875" b="1">
                <a:solidFill>
                  <a:srgbClr val="65D7AA"/>
                </a:solidFill>
                <a:latin typeface="Arial"/>
              </a:rPr>
              <a:t>OPEN</a:t>
            </a:r>
            <a:endParaRPr lang="en-US" sz="1875"/>
          </a:p>
        </p:txBody>
      </p:sp>
      <p:sp>
        <p:nvSpPr>
          <p:cNvPr id="11" name="Text 11"/>
          <p:cNvSpPr txBox="1"/>
          <p:nvPr/>
        </p:nvSpPr>
        <p:spPr>
          <a:xfrm>
            <a:off x="819150" y="3095625"/>
            <a:ext cx="49149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EEF6FF"/>
                </a:solidFill>
                <a:latin typeface="Arial"/>
              </a:rPr>
              <a:t>Connection accepted.</a:t>
            </a:r>
            <a:endParaRPr lang="en-US" sz="1725"/>
          </a:p>
        </p:txBody>
      </p:sp>
      <p:sp>
        <p:nvSpPr>
          <p:cNvPr id="12" name="Shape 12"/>
          <p:cNvSpPr/>
          <p:nvPr/>
        </p:nvSpPr>
        <p:spPr>
          <a:xfrm>
            <a:off x="6248400" y="2409825"/>
            <a:ext cx="5334000" cy="1238250"/>
          </a:xfrm>
          <a:prstGeom prst="roundRect">
            <a:avLst/>
          </a:prstGeom>
          <a:solidFill>
            <a:srgbClr val="102236"/>
          </a:solidFill>
          <a:ln>
            <a:noFill/>
          </a:ln>
        </p:spPr>
      </p:sp>
      <p:sp>
        <p:nvSpPr>
          <p:cNvPr id="13" name="Text 13"/>
          <p:cNvSpPr txBox="1"/>
          <p:nvPr/>
        </p:nvSpPr>
        <p:spPr>
          <a:xfrm>
            <a:off x="6457950" y="2590800"/>
            <a:ext cx="4914900" cy="304800"/>
          </a:xfrm>
          <a:prstGeom prst="rect">
            <a:avLst/>
          </a:prstGeom>
          <a:noFill/>
          <a:ln>
            <a:noFill/>
          </a:ln>
        </p:spPr>
        <p:txBody>
          <a:bodyPr wrap="none" lIns="0" tIns="0" rIns="0" bIns="0" anchor="t">
            <a:noAutofit/>
          </a:bodyPr>
          <a:lstStyle/>
          <a:p>
            <a:pPr>
              <a:lnSpc>
                <a:spcPts val="2250"/>
              </a:lnSpc>
              <a:spcBef>
                <a:spcPts val="0"/>
              </a:spcBef>
              <a:spcAft>
                <a:spcPts val="0"/>
              </a:spcAft>
            </a:pPr>
            <a:r>
              <a:rPr lang="en-US" sz="1875" b="1">
                <a:solidFill>
                  <a:srgbClr val="F0999E"/>
                </a:solidFill>
                <a:latin typeface="Arial"/>
              </a:rPr>
              <a:t>CLOSED</a:t>
            </a:r>
            <a:endParaRPr lang="en-US" sz="1875"/>
          </a:p>
        </p:txBody>
      </p:sp>
      <p:sp>
        <p:nvSpPr>
          <p:cNvPr id="14" name="Text 14"/>
          <p:cNvSpPr txBox="1"/>
          <p:nvPr/>
        </p:nvSpPr>
        <p:spPr>
          <a:xfrm>
            <a:off x="6457950" y="3095625"/>
            <a:ext cx="49149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EEF6FF"/>
                </a:solidFill>
                <a:latin typeface="Arial"/>
              </a:rPr>
              <a:t>Connection actively refused.</a:t>
            </a:r>
            <a:endParaRPr lang="en-US" sz="1725"/>
          </a:p>
        </p:txBody>
      </p:sp>
      <p:sp>
        <p:nvSpPr>
          <p:cNvPr id="15" name="Shape 15"/>
          <p:cNvSpPr/>
          <p:nvPr/>
        </p:nvSpPr>
        <p:spPr>
          <a:xfrm>
            <a:off x="609600" y="3838575"/>
            <a:ext cx="5334000" cy="1238250"/>
          </a:xfrm>
          <a:prstGeom prst="roundRect">
            <a:avLst/>
          </a:prstGeom>
          <a:solidFill>
            <a:srgbClr val="102236"/>
          </a:solidFill>
          <a:ln>
            <a:noFill/>
          </a:ln>
        </p:spPr>
      </p:sp>
      <p:sp>
        <p:nvSpPr>
          <p:cNvPr id="16" name="Text 16"/>
          <p:cNvSpPr txBox="1"/>
          <p:nvPr/>
        </p:nvSpPr>
        <p:spPr>
          <a:xfrm>
            <a:off x="819150" y="4019550"/>
            <a:ext cx="4914900" cy="304800"/>
          </a:xfrm>
          <a:prstGeom prst="rect">
            <a:avLst/>
          </a:prstGeom>
          <a:noFill/>
          <a:ln>
            <a:noFill/>
          </a:ln>
        </p:spPr>
        <p:txBody>
          <a:bodyPr wrap="none" lIns="0" tIns="0" rIns="0" bIns="0" anchor="t">
            <a:noAutofit/>
          </a:bodyPr>
          <a:lstStyle/>
          <a:p>
            <a:pPr>
              <a:lnSpc>
                <a:spcPts val="2250"/>
              </a:lnSpc>
              <a:spcBef>
                <a:spcPts val="0"/>
              </a:spcBef>
              <a:spcAft>
                <a:spcPts val="0"/>
              </a:spcAft>
            </a:pPr>
            <a:r>
              <a:rPr lang="en-US" sz="1875" b="1">
                <a:solidFill>
                  <a:srgbClr val="F1C873"/>
                </a:solidFill>
                <a:latin typeface="Arial"/>
              </a:rPr>
              <a:t>FILTERED / NO RESPONSE</a:t>
            </a:r>
            <a:endParaRPr lang="en-US" sz="1875"/>
          </a:p>
        </p:txBody>
      </p:sp>
      <p:sp>
        <p:nvSpPr>
          <p:cNvPr id="17" name="Text 17"/>
          <p:cNvSpPr txBox="1"/>
          <p:nvPr/>
        </p:nvSpPr>
        <p:spPr>
          <a:xfrm>
            <a:off x="819150" y="4524375"/>
            <a:ext cx="49149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EEF6FF"/>
                </a:solidFill>
                <a:latin typeface="Arial"/>
              </a:rPr>
              <a:t>No conclusive reply before timeout.</a:t>
            </a:r>
            <a:endParaRPr lang="en-US" sz="1725"/>
          </a:p>
        </p:txBody>
      </p:sp>
      <p:sp>
        <p:nvSpPr>
          <p:cNvPr id="18" name="Shape 18"/>
          <p:cNvSpPr/>
          <p:nvPr/>
        </p:nvSpPr>
        <p:spPr>
          <a:xfrm>
            <a:off x="6248400" y="3838575"/>
            <a:ext cx="5334000" cy="1238250"/>
          </a:xfrm>
          <a:prstGeom prst="roundRect">
            <a:avLst/>
          </a:prstGeom>
          <a:solidFill>
            <a:srgbClr val="102236"/>
          </a:solidFill>
          <a:ln>
            <a:noFill/>
          </a:ln>
        </p:spPr>
      </p:sp>
      <p:sp>
        <p:nvSpPr>
          <p:cNvPr id="19" name="Text 19"/>
          <p:cNvSpPr txBox="1"/>
          <p:nvPr/>
        </p:nvSpPr>
        <p:spPr>
          <a:xfrm>
            <a:off x="6457950" y="4019550"/>
            <a:ext cx="4914900" cy="304800"/>
          </a:xfrm>
          <a:prstGeom prst="rect">
            <a:avLst/>
          </a:prstGeom>
          <a:noFill/>
          <a:ln>
            <a:noFill/>
          </a:ln>
        </p:spPr>
        <p:txBody>
          <a:bodyPr wrap="none" lIns="0" tIns="0" rIns="0" bIns="0" anchor="t">
            <a:noAutofit/>
          </a:bodyPr>
          <a:lstStyle/>
          <a:p>
            <a:pPr>
              <a:lnSpc>
                <a:spcPts val="2250"/>
              </a:lnSpc>
              <a:spcBef>
                <a:spcPts val="0"/>
              </a:spcBef>
              <a:spcAft>
                <a:spcPts val="0"/>
              </a:spcAft>
            </a:pPr>
            <a:r>
              <a:rPr lang="en-US" sz="1875" b="1">
                <a:solidFill>
                  <a:srgbClr val="AFA3FF"/>
                </a:solidFill>
                <a:latin typeface="Arial"/>
              </a:rPr>
              <a:t>ERROR / UNKNOWN</a:t>
            </a:r>
            <a:endParaRPr lang="en-US" sz="1875"/>
          </a:p>
        </p:txBody>
      </p:sp>
      <p:sp>
        <p:nvSpPr>
          <p:cNvPr id="20" name="Text 20"/>
          <p:cNvSpPr txBox="1"/>
          <p:nvPr/>
        </p:nvSpPr>
        <p:spPr>
          <a:xfrm>
            <a:off x="6457950" y="4524375"/>
            <a:ext cx="4914900" cy="333375"/>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EEF6FF"/>
                </a:solidFill>
                <a:latin typeface="Arial"/>
              </a:rPr>
              <a:t>Another error prevented classification.</a:t>
            </a:r>
            <a:endParaRPr lang="en-US" sz="1725"/>
          </a:p>
        </p:txBody>
      </p:sp>
      <p:sp>
        <p:nvSpPr>
          <p:cNvPr id="21" name="Text 21"/>
          <p:cNvSpPr txBox="1"/>
          <p:nvPr/>
        </p:nvSpPr>
        <p:spPr>
          <a:xfrm>
            <a:off x="609600" y="5457825"/>
            <a:ext cx="10972800" cy="26670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Conventions: 22 SSH  |  53 DNS (TCP also)  |  80 HTTP  |  443 HTTPS</a:t>
            </a:r>
            <a:endParaRPr lang="en-US" sz="1725"/>
          </a:p>
        </p:txBody>
      </p:sp>
      <p:sp>
        <p:nvSpPr>
          <p:cNvPr id="22" name="Text 22"/>
          <p:cNvSpPr txBox="1"/>
          <p:nvPr/>
        </p:nvSpPr>
        <p:spPr>
          <a:xfrm>
            <a:off x="609600" y="5867400"/>
            <a:ext cx="10972800" cy="2667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A timeout cannot identify the cause. A port number cannot identify the application.</a:t>
            </a:r>
            <a:endParaRPr lang="en-US" sz="1575"/>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Architecture matches the implementation">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Architecture matches the implementation</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The public learning experience and real TCP checks are separate.</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09 / 12</a:t>
            </a:r>
            <a:endParaRPr lang="en-US" sz="1200"/>
          </a:p>
        </p:txBody>
      </p:sp>
      <p:sp>
        <p:nvSpPr>
          <p:cNvPr id="9" name="Text 9"/>
          <p:cNvSpPr txBox="1"/>
          <p:nvPr/>
        </p:nvSpPr>
        <p:spPr>
          <a:xfrm>
            <a:off x="609600" y="2305050"/>
            <a:ext cx="10972800" cy="247650"/>
          </a:xfrm>
          <a:prstGeom prst="rect">
            <a:avLst/>
          </a:prstGeom>
          <a:noFill/>
          <a:ln>
            <a:noFill/>
          </a:ln>
        </p:spPr>
        <p:txBody>
          <a:bodyPr wrap="none" lIns="0" tIns="0" rIns="0" bIns="0" anchor="t">
            <a:noAutofit/>
          </a:bodyPr>
          <a:lstStyle/>
          <a:p>
            <a:pPr>
              <a:lnSpc>
                <a:spcPts val="1710"/>
              </a:lnSpc>
              <a:spcBef>
                <a:spcPts val="0"/>
              </a:spcBef>
              <a:spcAft>
                <a:spcPts val="0"/>
              </a:spcAft>
            </a:pPr>
            <a:r>
              <a:rPr lang="en-US" sz="1425" b="1">
                <a:solidFill>
                  <a:srgbClr val="53DEEA"/>
                </a:solidFill>
                <a:latin typeface="Arial"/>
              </a:rPr>
              <a:t>PUBLIC WEBSITE  /  SIMULATION</a:t>
            </a:r>
            <a:endParaRPr lang="en-US" sz="1425"/>
          </a:p>
        </p:txBody>
      </p:sp>
      <p:sp>
        <p:nvSpPr>
          <p:cNvPr id="10" name="Shape 10"/>
          <p:cNvSpPr/>
          <p:nvPr/>
        </p:nvSpPr>
        <p:spPr>
          <a:xfrm>
            <a:off x="609600" y="2600325"/>
            <a:ext cx="2057400" cy="952500"/>
          </a:xfrm>
          <a:prstGeom prst="roundRect">
            <a:avLst/>
          </a:prstGeom>
          <a:solidFill>
            <a:srgbClr val="102236"/>
          </a:solidFill>
          <a:ln>
            <a:noFill/>
          </a:ln>
        </p:spPr>
      </p:sp>
      <p:sp>
        <p:nvSpPr>
          <p:cNvPr id="11" name="Text 11"/>
          <p:cNvSpPr txBox="1"/>
          <p:nvPr/>
        </p:nvSpPr>
        <p:spPr>
          <a:xfrm>
            <a:off x="762000" y="2886075"/>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React interface</a:t>
            </a:r>
            <a:endParaRPr lang="en-US" sz="1575"/>
          </a:p>
        </p:txBody>
      </p:sp>
      <p:sp>
        <p:nvSpPr>
          <p:cNvPr id="12" name="Text 12"/>
          <p:cNvSpPr txBox="1"/>
          <p:nvPr/>
        </p:nvSpPr>
        <p:spPr>
          <a:xfrm>
            <a:off x="2667000" y="2886075"/>
            <a:ext cx="171450" cy="3048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53DEEA"/>
                </a:solidFill>
                <a:latin typeface="Arial"/>
              </a:rPr>
              <a:t>&gt;</a:t>
            </a:r>
            <a:endParaRPr lang="en-US" sz="1575"/>
          </a:p>
        </p:txBody>
      </p:sp>
      <p:sp>
        <p:nvSpPr>
          <p:cNvPr id="13" name="Shape 13"/>
          <p:cNvSpPr/>
          <p:nvPr/>
        </p:nvSpPr>
        <p:spPr>
          <a:xfrm>
            <a:off x="2838450" y="2600325"/>
            <a:ext cx="2057400" cy="952500"/>
          </a:xfrm>
          <a:prstGeom prst="roundRect">
            <a:avLst/>
          </a:prstGeom>
          <a:solidFill>
            <a:srgbClr val="102236"/>
          </a:solidFill>
          <a:ln>
            <a:noFill/>
          </a:ln>
        </p:spPr>
      </p:sp>
      <p:sp>
        <p:nvSpPr>
          <p:cNvPr id="14" name="Text 14"/>
          <p:cNvSpPr txBox="1"/>
          <p:nvPr/>
        </p:nvSpPr>
        <p:spPr>
          <a:xfrm>
            <a:off x="2990850" y="2886075"/>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IPv4 calculator</a:t>
            </a:r>
            <a:endParaRPr lang="en-US" sz="1575"/>
          </a:p>
        </p:txBody>
      </p:sp>
      <p:sp>
        <p:nvSpPr>
          <p:cNvPr id="15" name="Text 15"/>
          <p:cNvSpPr txBox="1"/>
          <p:nvPr/>
        </p:nvSpPr>
        <p:spPr>
          <a:xfrm>
            <a:off x="4895850" y="2886075"/>
            <a:ext cx="171450" cy="3048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53DEEA"/>
                </a:solidFill>
                <a:latin typeface="Arial"/>
              </a:rPr>
              <a:t>&gt;</a:t>
            </a:r>
            <a:endParaRPr lang="en-US" sz="1575"/>
          </a:p>
        </p:txBody>
      </p:sp>
      <p:sp>
        <p:nvSpPr>
          <p:cNvPr id="16" name="Shape 16"/>
          <p:cNvSpPr/>
          <p:nvPr/>
        </p:nvSpPr>
        <p:spPr>
          <a:xfrm>
            <a:off x="5067300" y="2600325"/>
            <a:ext cx="2057400" cy="952500"/>
          </a:xfrm>
          <a:prstGeom prst="roundRect">
            <a:avLst/>
          </a:prstGeom>
          <a:solidFill>
            <a:srgbClr val="102236"/>
          </a:solidFill>
          <a:ln>
            <a:noFill/>
          </a:ln>
        </p:spPr>
      </p:sp>
      <p:sp>
        <p:nvSpPr>
          <p:cNvPr id="17" name="Text 17"/>
          <p:cNvSpPr txBox="1"/>
          <p:nvPr/>
        </p:nvSpPr>
        <p:spPr>
          <a:xfrm>
            <a:off x="5219700" y="2886075"/>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Sample events</a:t>
            </a:r>
            <a:endParaRPr lang="en-US" sz="1575"/>
          </a:p>
        </p:txBody>
      </p:sp>
      <p:sp>
        <p:nvSpPr>
          <p:cNvPr id="18" name="Text 18"/>
          <p:cNvSpPr txBox="1"/>
          <p:nvPr/>
        </p:nvSpPr>
        <p:spPr>
          <a:xfrm>
            <a:off x="7124700" y="2886075"/>
            <a:ext cx="171450" cy="3048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53DEEA"/>
                </a:solidFill>
                <a:latin typeface="Arial"/>
              </a:rPr>
              <a:t>&gt;</a:t>
            </a:r>
            <a:endParaRPr lang="en-US" sz="1575"/>
          </a:p>
        </p:txBody>
      </p:sp>
      <p:sp>
        <p:nvSpPr>
          <p:cNvPr id="19" name="Shape 19"/>
          <p:cNvSpPr/>
          <p:nvPr/>
        </p:nvSpPr>
        <p:spPr>
          <a:xfrm>
            <a:off x="7296150" y="2600325"/>
            <a:ext cx="2057400" cy="952500"/>
          </a:xfrm>
          <a:prstGeom prst="roundRect">
            <a:avLst/>
          </a:prstGeom>
          <a:solidFill>
            <a:srgbClr val="102236"/>
          </a:solidFill>
          <a:ln>
            <a:noFill/>
          </a:ln>
        </p:spPr>
      </p:sp>
      <p:sp>
        <p:nvSpPr>
          <p:cNvPr id="20" name="Text 20"/>
          <p:cNvSpPr txBox="1"/>
          <p:nvPr/>
        </p:nvSpPr>
        <p:spPr>
          <a:xfrm>
            <a:off x="7448550" y="2886075"/>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Classifications</a:t>
            </a:r>
            <a:endParaRPr lang="en-US" sz="1575"/>
          </a:p>
        </p:txBody>
      </p:sp>
      <p:sp>
        <p:nvSpPr>
          <p:cNvPr id="21" name="Text 21"/>
          <p:cNvSpPr txBox="1"/>
          <p:nvPr/>
        </p:nvSpPr>
        <p:spPr>
          <a:xfrm>
            <a:off x="9353550" y="2886075"/>
            <a:ext cx="171450" cy="3048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53DEEA"/>
                </a:solidFill>
                <a:latin typeface="Arial"/>
              </a:rPr>
              <a:t>&gt;</a:t>
            </a:r>
            <a:endParaRPr lang="en-US" sz="1575"/>
          </a:p>
        </p:txBody>
      </p:sp>
      <p:sp>
        <p:nvSpPr>
          <p:cNvPr id="22" name="Shape 22"/>
          <p:cNvSpPr/>
          <p:nvPr/>
        </p:nvSpPr>
        <p:spPr>
          <a:xfrm>
            <a:off x="9525000" y="2600325"/>
            <a:ext cx="2057400" cy="952500"/>
          </a:xfrm>
          <a:prstGeom prst="roundRect">
            <a:avLst/>
          </a:prstGeom>
          <a:solidFill>
            <a:srgbClr val="102236"/>
          </a:solidFill>
          <a:ln>
            <a:noFill/>
          </a:ln>
        </p:spPr>
      </p:sp>
      <p:sp>
        <p:nvSpPr>
          <p:cNvPr id="23" name="Text 23"/>
          <p:cNvSpPr txBox="1"/>
          <p:nvPr/>
        </p:nvSpPr>
        <p:spPr>
          <a:xfrm>
            <a:off x="9677400" y="2886075"/>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Lab summary</a:t>
            </a:r>
            <a:endParaRPr lang="en-US" sz="1575"/>
          </a:p>
        </p:txBody>
      </p:sp>
      <p:sp>
        <p:nvSpPr>
          <p:cNvPr id="24" name="Text 24"/>
          <p:cNvSpPr txBox="1"/>
          <p:nvPr/>
        </p:nvSpPr>
        <p:spPr>
          <a:xfrm>
            <a:off x="609600" y="3933825"/>
            <a:ext cx="10972800" cy="247650"/>
          </a:xfrm>
          <a:prstGeom prst="rect">
            <a:avLst/>
          </a:prstGeom>
          <a:noFill/>
          <a:ln>
            <a:noFill/>
          </a:ln>
        </p:spPr>
        <p:txBody>
          <a:bodyPr wrap="none" lIns="0" tIns="0" rIns="0" bIns="0" anchor="t">
            <a:noAutofit/>
          </a:bodyPr>
          <a:lstStyle/>
          <a:p>
            <a:pPr>
              <a:lnSpc>
                <a:spcPts val="1710"/>
              </a:lnSpc>
              <a:spcBef>
                <a:spcPts val="0"/>
              </a:spcBef>
              <a:spcAft>
                <a:spcPts val="0"/>
              </a:spcAft>
            </a:pPr>
            <a:r>
              <a:rPr lang="en-US" sz="1425" b="1">
                <a:solidFill>
                  <a:srgbClr val="AFA3FF"/>
                </a:solidFill>
                <a:latin typeface="Arial"/>
              </a:rPr>
              <a:t>LOCAL NODE.JS CLI  /  REAL TCP</a:t>
            </a:r>
            <a:endParaRPr lang="en-US" sz="1425"/>
          </a:p>
        </p:txBody>
      </p:sp>
      <p:sp>
        <p:nvSpPr>
          <p:cNvPr id="25" name="Shape 25"/>
          <p:cNvSpPr/>
          <p:nvPr/>
        </p:nvSpPr>
        <p:spPr>
          <a:xfrm>
            <a:off x="609600" y="4229100"/>
            <a:ext cx="2057400" cy="952500"/>
          </a:xfrm>
          <a:prstGeom prst="roundRect">
            <a:avLst/>
          </a:prstGeom>
          <a:solidFill>
            <a:srgbClr val="102236"/>
          </a:solidFill>
          <a:ln>
            <a:noFill/>
          </a:ln>
        </p:spPr>
      </p:sp>
      <p:sp>
        <p:nvSpPr>
          <p:cNvPr id="26" name="Text 26"/>
          <p:cNvSpPr txBox="1"/>
          <p:nvPr/>
        </p:nvSpPr>
        <p:spPr>
          <a:xfrm>
            <a:off x="762000" y="4514850"/>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CIDR + ports</a:t>
            </a:r>
            <a:endParaRPr lang="en-US" sz="1575"/>
          </a:p>
        </p:txBody>
      </p:sp>
      <p:sp>
        <p:nvSpPr>
          <p:cNvPr id="27" name="Text 27"/>
          <p:cNvSpPr txBox="1"/>
          <p:nvPr/>
        </p:nvSpPr>
        <p:spPr>
          <a:xfrm>
            <a:off x="2667000" y="4514850"/>
            <a:ext cx="171450" cy="3048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AFA3FF"/>
                </a:solidFill>
                <a:latin typeface="Arial"/>
              </a:rPr>
              <a:t>&gt;</a:t>
            </a:r>
            <a:endParaRPr lang="en-US" sz="1575"/>
          </a:p>
        </p:txBody>
      </p:sp>
      <p:sp>
        <p:nvSpPr>
          <p:cNvPr id="28" name="Shape 28"/>
          <p:cNvSpPr/>
          <p:nvPr/>
        </p:nvSpPr>
        <p:spPr>
          <a:xfrm>
            <a:off x="2838450" y="4229100"/>
            <a:ext cx="2057400" cy="952500"/>
          </a:xfrm>
          <a:prstGeom prst="roundRect">
            <a:avLst/>
          </a:prstGeom>
          <a:solidFill>
            <a:srgbClr val="102236"/>
          </a:solidFill>
          <a:ln>
            <a:noFill/>
          </a:ln>
        </p:spPr>
      </p:sp>
      <p:sp>
        <p:nvSpPr>
          <p:cNvPr id="29" name="Text 29"/>
          <p:cNvSpPr txBox="1"/>
          <p:nvPr/>
        </p:nvSpPr>
        <p:spPr>
          <a:xfrm>
            <a:off x="2990850" y="4514850"/>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Safety validation</a:t>
            </a:r>
            <a:endParaRPr lang="en-US" sz="1575"/>
          </a:p>
        </p:txBody>
      </p:sp>
      <p:sp>
        <p:nvSpPr>
          <p:cNvPr id="30" name="Text 30"/>
          <p:cNvSpPr txBox="1"/>
          <p:nvPr/>
        </p:nvSpPr>
        <p:spPr>
          <a:xfrm>
            <a:off x="4895850" y="4514850"/>
            <a:ext cx="171450" cy="3048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AFA3FF"/>
                </a:solidFill>
                <a:latin typeface="Arial"/>
              </a:rPr>
              <a:t>&gt;</a:t>
            </a:r>
            <a:endParaRPr lang="en-US" sz="1575"/>
          </a:p>
        </p:txBody>
      </p:sp>
      <p:sp>
        <p:nvSpPr>
          <p:cNvPr id="31" name="Shape 31"/>
          <p:cNvSpPr/>
          <p:nvPr/>
        </p:nvSpPr>
        <p:spPr>
          <a:xfrm>
            <a:off x="5067300" y="4229100"/>
            <a:ext cx="2057400" cy="952500"/>
          </a:xfrm>
          <a:prstGeom prst="roundRect">
            <a:avLst/>
          </a:prstGeom>
          <a:solidFill>
            <a:srgbClr val="102236"/>
          </a:solidFill>
          <a:ln>
            <a:noFill/>
          </a:ln>
        </p:spPr>
      </p:sp>
      <p:sp>
        <p:nvSpPr>
          <p:cNvPr id="32" name="Text 32"/>
          <p:cNvSpPr txBox="1"/>
          <p:nvPr/>
        </p:nvSpPr>
        <p:spPr>
          <a:xfrm>
            <a:off x="5219700" y="4514850"/>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TCP sockets</a:t>
            </a:r>
            <a:endParaRPr lang="en-US" sz="1575"/>
          </a:p>
        </p:txBody>
      </p:sp>
      <p:sp>
        <p:nvSpPr>
          <p:cNvPr id="33" name="Text 33"/>
          <p:cNvSpPr txBox="1"/>
          <p:nvPr/>
        </p:nvSpPr>
        <p:spPr>
          <a:xfrm>
            <a:off x="7124700" y="4514850"/>
            <a:ext cx="171450" cy="3048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AFA3FF"/>
                </a:solidFill>
                <a:latin typeface="Arial"/>
              </a:rPr>
              <a:t>&gt;</a:t>
            </a:r>
            <a:endParaRPr lang="en-US" sz="1575"/>
          </a:p>
        </p:txBody>
      </p:sp>
      <p:sp>
        <p:nvSpPr>
          <p:cNvPr id="34" name="Shape 34"/>
          <p:cNvSpPr/>
          <p:nvPr/>
        </p:nvSpPr>
        <p:spPr>
          <a:xfrm>
            <a:off x="7296150" y="4229100"/>
            <a:ext cx="2057400" cy="952500"/>
          </a:xfrm>
          <a:prstGeom prst="roundRect">
            <a:avLst/>
          </a:prstGeom>
          <a:solidFill>
            <a:srgbClr val="102236"/>
          </a:solidFill>
          <a:ln>
            <a:noFill/>
          </a:ln>
        </p:spPr>
      </p:sp>
      <p:sp>
        <p:nvSpPr>
          <p:cNvPr id="35" name="Text 35"/>
          <p:cNvSpPr txBox="1"/>
          <p:nvPr/>
        </p:nvSpPr>
        <p:spPr>
          <a:xfrm>
            <a:off x="7448550" y="4514850"/>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Classifications</a:t>
            </a:r>
            <a:endParaRPr lang="en-US" sz="1575"/>
          </a:p>
        </p:txBody>
      </p:sp>
      <p:sp>
        <p:nvSpPr>
          <p:cNvPr id="36" name="Text 36"/>
          <p:cNvSpPr txBox="1"/>
          <p:nvPr/>
        </p:nvSpPr>
        <p:spPr>
          <a:xfrm>
            <a:off x="9353550" y="4514850"/>
            <a:ext cx="171450" cy="3048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AFA3FF"/>
                </a:solidFill>
                <a:latin typeface="Arial"/>
              </a:rPr>
              <a:t>&gt;</a:t>
            </a:r>
            <a:endParaRPr lang="en-US" sz="1575"/>
          </a:p>
        </p:txBody>
      </p:sp>
      <p:sp>
        <p:nvSpPr>
          <p:cNvPr id="37" name="Shape 37"/>
          <p:cNvSpPr/>
          <p:nvPr/>
        </p:nvSpPr>
        <p:spPr>
          <a:xfrm>
            <a:off x="9525000" y="4229100"/>
            <a:ext cx="2057400" cy="952500"/>
          </a:xfrm>
          <a:prstGeom prst="roundRect">
            <a:avLst/>
          </a:prstGeom>
          <a:solidFill>
            <a:srgbClr val="102236"/>
          </a:solidFill>
          <a:ln>
            <a:noFill/>
          </a:ln>
        </p:spPr>
      </p:sp>
      <p:sp>
        <p:nvSpPr>
          <p:cNvPr id="38" name="Text 38"/>
          <p:cNvSpPr txBox="1"/>
          <p:nvPr/>
        </p:nvSpPr>
        <p:spPr>
          <a:xfrm>
            <a:off x="9677400" y="4514850"/>
            <a:ext cx="1752600" cy="41910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1">
                <a:solidFill>
                  <a:srgbClr val="EEF6FF"/>
                </a:solidFill>
                <a:latin typeface="Arial"/>
              </a:rPr>
              <a:t>Table + JSON</a:t>
            </a:r>
            <a:endParaRPr lang="en-US" sz="1575"/>
          </a:p>
        </p:txBody>
      </p:sp>
      <p:sp>
        <p:nvSpPr>
          <p:cNvPr id="39" name="Shape 39"/>
          <p:cNvSpPr/>
          <p:nvPr/>
        </p:nvSpPr>
        <p:spPr>
          <a:xfrm>
            <a:off x="609600" y="5657850"/>
            <a:ext cx="10972800" cy="457200"/>
          </a:xfrm>
          <a:prstGeom prst="roundRect">
            <a:avLst/>
          </a:prstGeom>
          <a:solidFill>
            <a:srgbClr val="122E40"/>
          </a:solidFill>
          <a:ln>
            <a:noFill/>
          </a:ln>
        </p:spPr>
      </p:sp>
      <p:sp>
        <p:nvSpPr>
          <p:cNvPr id="40" name="Text 40"/>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Shared IPv4 logic; separate data sources. Real scan results stay on the local computer.</a:t>
            </a:r>
            <a:endParaRPr lang="en-US" sz="1575"/>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Demonstrate the two lab tabs">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Demonstrate the two lab tabs</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All port-lab events and counts below are simulated.</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10 / 12</a:t>
            </a:r>
            <a:endParaRPr lang="en-US" sz="1200"/>
          </a:p>
        </p:txBody>
      </p:sp>
      <p:sp>
        <p:nvSpPr>
          <p:cNvPr id="9" name="Shape 9"/>
          <p:cNvSpPr/>
          <p:nvPr/>
        </p:nvSpPr>
        <p:spPr>
          <a:xfrm>
            <a:off x="609600" y="2409825"/>
            <a:ext cx="5219700" cy="2600325"/>
          </a:xfrm>
          <a:prstGeom prst="roundRect">
            <a:avLst/>
          </a:prstGeom>
          <a:solidFill>
            <a:srgbClr val="102236"/>
          </a:solidFill>
          <a:ln>
            <a:noFill/>
          </a:ln>
        </p:spPr>
      </p:sp>
      <p:sp>
        <p:nvSpPr>
          <p:cNvPr id="10" name="Text 10"/>
          <p:cNvSpPr txBox="1"/>
          <p:nvPr/>
        </p:nvSpPr>
        <p:spPr>
          <a:xfrm>
            <a:off x="838200" y="2628900"/>
            <a:ext cx="47625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53DEEA"/>
                </a:solidFill>
                <a:latin typeface="Arial"/>
              </a:rPr>
              <a:t>Tab 1  Subnet Explorer</a:t>
            </a:r>
            <a:endParaRPr lang="en-US" sz="2025"/>
          </a:p>
        </p:txBody>
      </p:sp>
      <p:sp>
        <p:nvSpPr>
          <p:cNvPr id="11" name="Text 11"/>
          <p:cNvSpPr txBox="1"/>
          <p:nvPr/>
        </p:nvSpPr>
        <p:spPr>
          <a:xfrm>
            <a:off x="838200" y="3228975"/>
            <a:ext cx="4762500" cy="16478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Calculate 192.168.1.0/24.</a:t>
            </a:r>
            <a:endParaRPr lang="en-US" sz="1800"/>
          </a:p>
          <a:p>
            <a:pPr>
              <a:lnSpc>
                <a:spcPts val="2160"/>
              </a:lnSpc>
              <a:spcBef>
                <a:spcPts val="0"/>
              </a:spcBef>
              <a:spcAft>
                <a:spcPts val="0"/>
              </a:spcAft>
            </a:pPr>
            <a:r>
              <a:rPr lang="en-US" sz="1800" b="0">
                <a:solidFill>
                  <a:srgbClr val="EEF6FF"/>
                </a:solidFill>
                <a:latin typeface="Arial"/>
              </a:rPr>
              <a:t>Change to /29; inspect the range.</a:t>
            </a:r>
            <a:endParaRPr lang="en-US" sz="1800"/>
          </a:p>
          <a:p>
            <a:pPr>
              <a:lnSpc>
                <a:spcPts val="2160"/>
              </a:lnSpc>
              <a:spcBef>
                <a:spcPts val="0"/>
              </a:spcBef>
              <a:spcAft>
                <a:spcPts val="0"/>
              </a:spcAft>
            </a:pPr>
            <a:r>
              <a:rPr lang="en-US" sz="1800" b="0">
                <a:solidFill>
                  <a:srgbClr val="EEF6FF"/>
                </a:solidFill>
                <a:latin typeface="Arial"/>
              </a:rPr>
              <a:t>Try /31 or /32.</a:t>
            </a:r>
            <a:endParaRPr lang="en-US" sz="1800"/>
          </a:p>
          <a:p>
            <a:pPr>
              <a:lnSpc>
                <a:spcPts val="2160"/>
              </a:lnSpc>
              <a:spcBef>
                <a:spcPts val="0"/>
              </a:spcBef>
              <a:spcAft>
                <a:spcPts val="0"/>
              </a:spcAft>
            </a:pPr>
            <a:r>
              <a:rPr lang="en-US" sz="1800" b="0">
                <a:solidFill>
                  <a:srgbClr val="EEF6FF"/>
                </a:solidFill>
                <a:latin typeface="Arial"/>
              </a:rPr>
              <a:t>Enter invalid input to see validation.</a:t>
            </a:r>
            <a:endParaRPr lang="en-US" sz="1800"/>
          </a:p>
        </p:txBody>
      </p:sp>
      <p:sp>
        <p:nvSpPr>
          <p:cNvPr id="12" name="Shape 12"/>
          <p:cNvSpPr/>
          <p:nvPr/>
        </p:nvSpPr>
        <p:spPr>
          <a:xfrm>
            <a:off x="6134100" y="2409825"/>
            <a:ext cx="5448300" cy="2600325"/>
          </a:xfrm>
          <a:prstGeom prst="roundRect">
            <a:avLst/>
          </a:prstGeom>
          <a:solidFill>
            <a:srgbClr val="102236"/>
          </a:solidFill>
          <a:ln>
            <a:noFill/>
          </a:ln>
        </p:spPr>
      </p:sp>
      <p:sp>
        <p:nvSpPr>
          <p:cNvPr id="13" name="Text 13"/>
          <p:cNvSpPr txBox="1"/>
          <p:nvPr/>
        </p:nvSpPr>
        <p:spPr>
          <a:xfrm>
            <a:off x="6362700" y="2628900"/>
            <a:ext cx="49911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AFA3FF"/>
                </a:solidFill>
                <a:latin typeface="Arial"/>
              </a:rPr>
              <a:t>Tab 2  Port Profiling Lab</a:t>
            </a:r>
            <a:endParaRPr lang="en-US" sz="2025"/>
          </a:p>
        </p:txBody>
      </p:sp>
      <p:sp>
        <p:nvSpPr>
          <p:cNvPr id="14" name="Text 14"/>
          <p:cNvSpPr txBox="1"/>
          <p:nvPr/>
        </p:nvSpPr>
        <p:spPr>
          <a:xfrm>
            <a:off x="6362700" y="3228975"/>
            <a:ext cx="4991100" cy="164782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Start the deterministic demo.</a:t>
            </a:r>
            <a:endParaRPr lang="en-US" sz="1800"/>
          </a:p>
          <a:p>
            <a:pPr>
              <a:lnSpc>
                <a:spcPts val="2160"/>
              </a:lnSpc>
              <a:spcBef>
                <a:spcPts val="0"/>
              </a:spcBef>
              <a:spcAft>
                <a:spcPts val="0"/>
              </a:spcAft>
            </a:pPr>
            <a:r>
              <a:rPr lang="en-US" sz="1800" b="0">
                <a:solidFill>
                  <a:srgbClr val="EEF6FF"/>
                </a:solidFill>
                <a:latin typeface="Arial"/>
              </a:rPr>
              <a:t>Inspect an individual result.</a:t>
            </a:r>
            <a:endParaRPr lang="en-US" sz="1800"/>
          </a:p>
          <a:p>
            <a:pPr>
              <a:lnSpc>
                <a:spcPts val="2160"/>
              </a:lnSpc>
              <a:spcBef>
                <a:spcPts val="0"/>
              </a:spcBef>
              <a:spcAft>
                <a:spcPts val="0"/>
              </a:spcAft>
            </a:pPr>
            <a:r>
              <a:rPr lang="en-US" sz="1800" b="0">
                <a:solidFill>
                  <a:srgbClr val="EEF6FF"/>
                </a:solidFill>
                <a:latin typeface="Arial"/>
              </a:rPr>
              <a:t>Filter and sort the table.</a:t>
            </a:r>
            <a:endParaRPr lang="en-US" sz="1800"/>
          </a:p>
          <a:p>
            <a:pPr>
              <a:lnSpc>
                <a:spcPts val="2160"/>
              </a:lnSpc>
              <a:spcBef>
                <a:spcPts val="0"/>
              </a:spcBef>
              <a:spcAft>
                <a:spcPts val="0"/>
              </a:spcAft>
            </a:pPr>
            <a:r>
              <a:rPr lang="en-US" sz="1800" b="0">
                <a:solidFill>
                  <a:srgbClr val="EEF6FF"/>
                </a:solidFill>
                <a:latin typeface="Arial"/>
              </a:rPr>
              <a:t>Reset to the initial state.</a:t>
            </a:r>
            <a:endParaRPr lang="en-US" sz="1800"/>
          </a:p>
        </p:txBody>
      </p:sp>
      <p:sp>
        <p:nvSpPr>
          <p:cNvPr id="15" name="Shape 15"/>
          <p:cNvSpPr/>
          <p:nvPr/>
        </p:nvSpPr>
        <p:spPr>
          <a:xfrm>
            <a:off x="609600" y="5248275"/>
            <a:ext cx="10972800" cy="762000"/>
          </a:xfrm>
          <a:prstGeom prst="roundRect">
            <a:avLst/>
          </a:prstGeom>
          <a:solidFill>
            <a:srgbClr val="122E40"/>
          </a:solidFill>
          <a:ln>
            <a:noFill/>
          </a:ln>
        </p:spPr>
      </p:sp>
      <p:sp>
        <p:nvSpPr>
          <p:cNvPr id="16" name="Text 16"/>
          <p:cNvSpPr txBox="1"/>
          <p:nvPr/>
        </p:nvSpPr>
        <p:spPr>
          <a:xfrm>
            <a:off x="809625" y="5391150"/>
            <a:ext cx="10572750" cy="438150"/>
          </a:xfrm>
          <a:prstGeom prst="rect">
            <a:avLst/>
          </a:prstGeom>
          <a:noFill/>
          <a:ln>
            <a:noFill/>
          </a:ln>
        </p:spPr>
        <p:txBody>
          <a:bodyPr wrap="none" lIns="0" tIns="0" rIns="0" bIns="0" anchor="t">
            <a:noAutofit/>
          </a:bodyPr>
          <a:lstStyle/>
          <a:p>
            <a:pPr>
              <a:lnSpc>
                <a:spcPts val="2340"/>
              </a:lnSpc>
              <a:spcBef>
                <a:spcPts val="0"/>
              </a:spcBef>
              <a:spcAft>
                <a:spcPts val="0"/>
              </a:spcAft>
            </a:pPr>
            <a:r>
              <a:rPr lang="en-US" sz="1950" b="1">
                <a:solidFill>
                  <a:srgbClr val="53DEEA"/>
                </a:solidFill>
                <a:latin typeface="Arial"/>
              </a:rPr>
              <a:t>36 simulated probes  =  6 open + 17 closed + 12 no response + 1 unknown</a:t>
            </a:r>
            <a:endParaRPr lang="en-US" sz="195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Real testing stays in an authorized lab">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Real testing stays in an authorized lab</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The CLI validates the entire scan plan before creating any network connections.</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11 / 12</a:t>
            </a:r>
            <a:endParaRPr lang="en-US" sz="1200"/>
          </a:p>
        </p:txBody>
      </p:sp>
      <p:sp>
        <p:nvSpPr>
          <p:cNvPr id="9" name="Shape 9"/>
          <p:cNvSpPr/>
          <p:nvPr/>
        </p:nvSpPr>
        <p:spPr>
          <a:xfrm>
            <a:off x="609600" y="2409825"/>
            <a:ext cx="3505200" cy="1104900"/>
          </a:xfrm>
          <a:prstGeom prst="roundRect">
            <a:avLst/>
          </a:prstGeom>
          <a:solidFill>
            <a:srgbClr val="102236"/>
          </a:solidFill>
          <a:ln>
            <a:noFill/>
          </a:ln>
        </p:spPr>
      </p:sp>
      <p:sp>
        <p:nvSpPr>
          <p:cNvPr id="10" name="Text 10"/>
          <p:cNvSpPr txBox="1"/>
          <p:nvPr/>
        </p:nvSpPr>
        <p:spPr>
          <a:xfrm>
            <a:off x="819150" y="2562225"/>
            <a:ext cx="3086100" cy="400050"/>
          </a:xfrm>
          <a:prstGeom prst="rect">
            <a:avLst/>
          </a:prstGeom>
          <a:noFill/>
          <a:ln>
            <a:noFill/>
          </a:ln>
        </p:spPr>
        <p:txBody>
          <a:bodyPr wrap="none" lIns="0" tIns="0" rIns="0" bIns="0" anchor="t">
            <a:noAutofit/>
          </a:bodyPr>
          <a:lstStyle/>
          <a:p>
            <a:pPr>
              <a:lnSpc>
                <a:spcPts val="2880"/>
              </a:lnSpc>
              <a:spcBef>
                <a:spcPts val="0"/>
              </a:spcBef>
              <a:spcAft>
                <a:spcPts val="0"/>
              </a:spcAft>
            </a:pPr>
            <a:r>
              <a:rPr lang="en-US" sz="2400" b="1">
                <a:solidFill>
                  <a:srgbClr val="53DEEA"/>
                </a:solidFill>
                <a:latin typeface="Arial"/>
              </a:rPr>
              <a:t>14</a:t>
            </a:r>
            <a:endParaRPr lang="en-US" sz="2400"/>
          </a:p>
        </p:txBody>
      </p:sp>
      <p:sp>
        <p:nvSpPr>
          <p:cNvPr id="11" name="Text 11"/>
          <p:cNvSpPr txBox="1"/>
          <p:nvPr/>
        </p:nvSpPr>
        <p:spPr>
          <a:xfrm>
            <a:off x="819150" y="3095625"/>
            <a:ext cx="3086100" cy="266700"/>
          </a:xfrm>
          <a:prstGeom prst="rect">
            <a:avLst/>
          </a:prstGeom>
          <a:noFill/>
          <a:ln>
            <a:noFill/>
          </a:ln>
        </p:spPr>
        <p:txBody>
          <a:bodyPr wrap="none" lIns="0" tIns="0" rIns="0" bIns="0" anchor="t">
            <a:noAutofit/>
          </a:bodyPr>
          <a:lstStyle/>
          <a:p>
            <a:pPr>
              <a:lnSpc>
                <a:spcPts val="1800"/>
              </a:lnSpc>
              <a:spcBef>
                <a:spcPts val="0"/>
              </a:spcBef>
              <a:spcAft>
                <a:spcPts val="0"/>
              </a:spcAft>
            </a:pPr>
            <a:r>
              <a:rPr lang="en-US" sz="1500" b="0">
                <a:solidFill>
                  <a:srgbClr val="A7BBD0"/>
                </a:solidFill>
                <a:latin typeface="Arial"/>
              </a:rPr>
              <a:t>Maximum candidates</a:t>
            </a:r>
            <a:endParaRPr lang="en-US" sz="1500"/>
          </a:p>
        </p:txBody>
      </p:sp>
      <p:sp>
        <p:nvSpPr>
          <p:cNvPr id="12" name="Shape 12"/>
          <p:cNvSpPr/>
          <p:nvPr/>
        </p:nvSpPr>
        <p:spPr>
          <a:xfrm>
            <a:off x="4343400" y="2409825"/>
            <a:ext cx="3505200" cy="1104900"/>
          </a:xfrm>
          <a:prstGeom prst="roundRect">
            <a:avLst/>
          </a:prstGeom>
          <a:solidFill>
            <a:srgbClr val="102236"/>
          </a:solidFill>
          <a:ln>
            <a:noFill/>
          </a:ln>
        </p:spPr>
      </p:sp>
      <p:sp>
        <p:nvSpPr>
          <p:cNvPr id="13" name="Text 13"/>
          <p:cNvSpPr txBox="1"/>
          <p:nvPr/>
        </p:nvSpPr>
        <p:spPr>
          <a:xfrm>
            <a:off x="4552950" y="2562225"/>
            <a:ext cx="3086100" cy="400050"/>
          </a:xfrm>
          <a:prstGeom prst="rect">
            <a:avLst/>
          </a:prstGeom>
          <a:noFill/>
          <a:ln>
            <a:noFill/>
          </a:ln>
        </p:spPr>
        <p:txBody>
          <a:bodyPr wrap="none" lIns="0" tIns="0" rIns="0" bIns="0" anchor="t">
            <a:noAutofit/>
          </a:bodyPr>
          <a:lstStyle/>
          <a:p>
            <a:pPr>
              <a:lnSpc>
                <a:spcPts val="2880"/>
              </a:lnSpc>
              <a:spcBef>
                <a:spcPts val="0"/>
              </a:spcBef>
              <a:spcAft>
                <a:spcPts val="0"/>
              </a:spcAft>
            </a:pPr>
            <a:r>
              <a:rPr lang="en-US" sz="2400" b="1">
                <a:solidFill>
                  <a:srgbClr val="53DEEA"/>
                </a:solidFill>
                <a:latin typeface="Arial"/>
              </a:rPr>
              <a:t>16</a:t>
            </a:r>
            <a:endParaRPr lang="en-US" sz="2400"/>
          </a:p>
        </p:txBody>
      </p:sp>
      <p:sp>
        <p:nvSpPr>
          <p:cNvPr id="14" name="Text 14"/>
          <p:cNvSpPr txBox="1"/>
          <p:nvPr/>
        </p:nvSpPr>
        <p:spPr>
          <a:xfrm>
            <a:off x="4552950" y="3095625"/>
            <a:ext cx="3086100" cy="266700"/>
          </a:xfrm>
          <a:prstGeom prst="rect">
            <a:avLst/>
          </a:prstGeom>
          <a:noFill/>
          <a:ln>
            <a:noFill/>
          </a:ln>
        </p:spPr>
        <p:txBody>
          <a:bodyPr wrap="none" lIns="0" tIns="0" rIns="0" bIns="0" anchor="t">
            <a:noAutofit/>
          </a:bodyPr>
          <a:lstStyle/>
          <a:p>
            <a:pPr>
              <a:lnSpc>
                <a:spcPts val="1800"/>
              </a:lnSpc>
              <a:spcBef>
                <a:spcPts val="0"/>
              </a:spcBef>
              <a:spcAft>
                <a:spcPts val="0"/>
              </a:spcAft>
            </a:pPr>
            <a:r>
              <a:rPr lang="en-US" sz="1500" b="0">
                <a:solidFill>
                  <a:srgbClr val="A7BBD0"/>
                </a:solidFill>
                <a:latin typeface="Arial"/>
              </a:rPr>
              <a:t>Maximum concurrency</a:t>
            </a:r>
            <a:endParaRPr lang="en-US" sz="1500"/>
          </a:p>
        </p:txBody>
      </p:sp>
      <p:sp>
        <p:nvSpPr>
          <p:cNvPr id="15" name="Shape 15"/>
          <p:cNvSpPr/>
          <p:nvPr/>
        </p:nvSpPr>
        <p:spPr>
          <a:xfrm>
            <a:off x="8077200" y="2409825"/>
            <a:ext cx="3505200" cy="1104900"/>
          </a:xfrm>
          <a:prstGeom prst="roundRect">
            <a:avLst/>
          </a:prstGeom>
          <a:solidFill>
            <a:srgbClr val="102236"/>
          </a:solidFill>
          <a:ln>
            <a:noFill/>
          </a:ln>
        </p:spPr>
      </p:sp>
      <p:sp>
        <p:nvSpPr>
          <p:cNvPr id="16" name="Text 16"/>
          <p:cNvSpPr txBox="1"/>
          <p:nvPr/>
        </p:nvSpPr>
        <p:spPr>
          <a:xfrm>
            <a:off x="8286750" y="2562225"/>
            <a:ext cx="3086100" cy="400050"/>
          </a:xfrm>
          <a:prstGeom prst="rect">
            <a:avLst/>
          </a:prstGeom>
          <a:noFill/>
          <a:ln>
            <a:noFill/>
          </a:ln>
        </p:spPr>
        <p:txBody>
          <a:bodyPr wrap="none" lIns="0" tIns="0" rIns="0" bIns="0" anchor="t">
            <a:noAutofit/>
          </a:bodyPr>
          <a:lstStyle/>
          <a:p>
            <a:pPr>
              <a:lnSpc>
                <a:spcPts val="2880"/>
              </a:lnSpc>
              <a:spcBef>
                <a:spcPts val="0"/>
              </a:spcBef>
              <a:spcAft>
                <a:spcPts val="0"/>
              </a:spcAft>
            </a:pPr>
            <a:r>
              <a:rPr lang="en-US" sz="2400" b="1">
                <a:solidFill>
                  <a:srgbClr val="53DEEA"/>
                </a:solidFill>
                <a:latin typeface="Arial"/>
              </a:rPr>
              <a:t>100-2000 ms</a:t>
            </a:r>
            <a:endParaRPr lang="en-US" sz="2400"/>
          </a:p>
        </p:txBody>
      </p:sp>
      <p:sp>
        <p:nvSpPr>
          <p:cNvPr id="17" name="Text 17"/>
          <p:cNvSpPr txBox="1"/>
          <p:nvPr/>
        </p:nvSpPr>
        <p:spPr>
          <a:xfrm>
            <a:off x="8286750" y="3095625"/>
            <a:ext cx="3086100" cy="266700"/>
          </a:xfrm>
          <a:prstGeom prst="rect">
            <a:avLst/>
          </a:prstGeom>
          <a:noFill/>
          <a:ln>
            <a:noFill/>
          </a:ln>
        </p:spPr>
        <p:txBody>
          <a:bodyPr wrap="none" lIns="0" tIns="0" rIns="0" bIns="0" anchor="t">
            <a:noAutofit/>
          </a:bodyPr>
          <a:lstStyle/>
          <a:p>
            <a:pPr>
              <a:lnSpc>
                <a:spcPts val="1800"/>
              </a:lnSpc>
              <a:spcBef>
                <a:spcPts val="0"/>
              </a:spcBef>
              <a:spcAft>
                <a:spcPts val="0"/>
              </a:spcAft>
            </a:pPr>
            <a:r>
              <a:rPr lang="en-US" sz="1500" b="0">
                <a:solidFill>
                  <a:srgbClr val="A7BBD0"/>
                </a:solidFill>
                <a:latin typeface="Arial"/>
              </a:rPr>
              <a:t>Bounded timeout</a:t>
            </a:r>
            <a:endParaRPr lang="en-US" sz="1500"/>
          </a:p>
        </p:txBody>
      </p:sp>
      <p:sp>
        <p:nvSpPr>
          <p:cNvPr id="18" name="Text 18"/>
          <p:cNvSpPr txBox="1"/>
          <p:nvPr/>
        </p:nvSpPr>
        <p:spPr>
          <a:xfrm>
            <a:off x="609600" y="3790950"/>
            <a:ext cx="10972800" cy="323850"/>
          </a:xfrm>
          <a:prstGeom prst="rect">
            <a:avLst/>
          </a:prstGeom>
          <a:noFill/>
          <a:ln>
            <a:noFill/>
          </a:ln>
        </p:spPr>
        <p:txBody>
          <a:bodyPr wrap="none" lIns="0" tIns="0" rIns="0" bIns="0" anchor="t">
            <a:noAutofit/>
          </a:bodyPr>
          <a:lstStyle/>
          <a:p>
            <a:pPr>
              <a:lnSpc>
                <a:spcPts val="2250"/>
              </a:lnSpc>
              <a:spcBef>
                <a:spcPts val="0"/>
              </a:spcBef>
              <a:spcAft>
                <a:spcPts val="0"/>
              </a:spcAft>
            </a:pPr>
            <a:r>
              <a:rPr lang="en-US" sz="1875" b="0">
                <a:solidFill>
                  <a:srgbClr val="A7BBD0"/>
                </a:solidFill>
                <a:latin typeface="Consolas"/>
              </a:rPr>
              <a:t>Allowlist: 22, 53, 80, 443, 3306, 5432, 8080</a:t>
            </a:r>
            <a:endParaRPr lang="en-US" sz="1875"/>
          </a:p>
        </p:txBody>
      </p:sp>
      <p:sp>
        <p:nvSpPr>
          <p:cNvPr id="19" name="Shape 19"/>
          <p:cNvSpPr/>
          <p:nvPr/>
        </p:nvSpPr>
        <p:spPr>
          <a:xfrm>
            <a:off x="609600" y="4371975"/>
            <a:ext cx="10972800" cy="1152525"/>
          </a:xfrm>
          <a:prstGeom prst="roundRect">
            <a:avLst/>
          </a:prstGeom>
          <a:solidFill>
            <a:srgbClr val="102236"/>
          </a:solidFill>
          <a:ln>
            <a:noFill/>
          </a:ln>
        </p:spPr>
      </p:sp>
      <p:sp>
        <p:nvSpPr>
          <p:cNvPr id="20" name="Text 20"/>
          <p:cNvSpPr txBox="1"/>
          <p:nvPr/>
        </p:nvSpPr>
        <p:spPr>
          <a:xfrm>
            <a:off x="800100" y="4543425"/>
            <a:ext cx="10591800" cy="295275"/>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EEF6FF"/>
                </a:solidFill>
                <a:latin typeface="Consolas"/>
              </a:rPr>
              <a:t>npm run scan -- --cidr 127.0.0.1/32 --ports 80,443 --dry-run</a:t>
            </a:r>
            <a:endParaRPr lang="en-US" sz="1575"/>
          </a:p>
        </p:txBody>
      </p:sp>
      <p:sp>
        <p:nvSpPr>
          <p:cNvPr id="21" name="Text 21"/>
          <p:cNvSpPr txBox="1"/>
          <p:nvPr/>
        </p:nvSpPr>
        <p:spPr>
          <a:xfrm>
            <a:off x="800100" y="5000625"/>
            <a:ext cx="10591800" cy="295275"/>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65D7AA"/>
                </a:solidFill>
                <a:latin typeface="Consolas"/>
              </a:rPr>
              <a:t>npm run scan -- --cidr 127.0.0.1/32 --ports 80,443 --authorized</a:t>
            </a:r>
            <a:endParaRPr lang="en-US" sz="1575"/>
          </a:p>
        </p:txBody>
      </p:sp>
      <p:sp>
        <p:nvSpPr>
          <p:cNvPr id="22" name="Shape 22"/>
          <p:cNvSpPr/>
          <p:nvPr/>
        </p:nvSpPr>
        <p:spPr>
          <a:xfrm>
            <a:off x="609600" y="5657850"/>
            <a:ext cx="10972800" cy="457200"/>
          </a:xfrm>
          <a:prstGeom prst="roundRect">
            <a:avLst/>
          </a:prstGeom>
          <a:solidFill>
            <a:srgbClr val="122E40"/>
          </a:solidFill>
          <a:ln>
            <a:noFill/>
          </a:ln>
        </p:spPr>
      </p:sp>
      <p:sp>
        <p:nvSpPr>
          <p:cNvPr id="23" name="Text 23"/>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Permission is required. Output is a local table and optional local JSON; the website never scans.</a:t>
            </a:r>
            <a:endParaRPr lang="en-US" sz="1575"/>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What did we build and verify?">
    <p:spTree>
      <p:nvGrpSpPr>
        <p:cNvPr id="1" name=""/>
        <p:cNvGrpSpPr/>
        <p:nvPr/>
      </p:nvGrpSpPr>
      <p:grpSpPr>
        <a:xfrm>
          <a:off x="0" y="0"/>
          <a:ext cx="0" cy="0"/>
          <a:chOff x="0" y="0"/>
          <a:chExt cx="0" cy="0"/>
        </a:xfrm>
      </p:grpSpPr>
      <p:sp>
        <p:nvSpPr>
          <p:cNvPr id="2" name="Shape 2"/>
          <p:cNvSpPr/>
          <p:nvPr/>
        </p:nvSpPr>
        <p:spPr>
          <a:xfrm>
            <a:off x="0" y="0"/>
            <a:ext cx="12192000" cy="6858000"/>
          </a:xfrm>
          <a:prstGeom prst="rect">
            <a:avLst/>
          </a:prstGeom>
          <a:solidFill>
            <a:srgbClr val="081321"/>
          </a:solidFill>
          <a:ln>
            <a:noFill/>
          </a:ln>
        </p:spPr>
      </p:sp>
      <p:sp>
        <p:nvSpPr>
          <p:cNvPr id="3" name="Text 3"/>
          <p:cNvSpPr txBox="1"/>
          <p:nvPr/>
        </p:nvSpPr>
        <p:spPr>
          <a:xfrm>
            <a:off x="609600" y="323850"/>
            <a:ext cx="8096250" cy="1905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1">
                <a:solidFill>
                  <a:srgbClr val="53DEEA"/>
                </a:solidFill>
                <a:latin typeface="Arial"/>
              </a:rPr>
              <a:t>SUBNETSCOPE  /  COMPUTER NETWORKS</a:t>
            </a:r>
            <a:endParaRPr lang="en-US" sz="1200"/>
          </a:p>
        </p:txBody>
      </p:sp>
      <p:sp>
        <p:nvSpPr>
          <p:cNvPr id="4" name="Text 4"/>
          <p:cNvSpPr txBox="1"/>
          <p:nvPr/>
        </p:nvSpPr>
        <p:spPr>
          <a:xfrm>
            <a:off x="609600" y="800100"/>
            <a:ext cx="10972800" cy="876300"/>
          </a:xfrm>
          <a:prstGeom prst="rect">
            <a:avLst/>
          </a:prstGeom>
          <a:noFill/>
          <a:ln>
            <a:noFill/>
          </a:ln>
        </p:spPr>
        <p:txBody>
          <a:bodyPr wrap="none" lIns="0" tIns="0" rIns="0" bIns="0" anchor="t">
            <a:noAutofit/>
          </a:bodyPr>
          <a:lstStyle/>
          <a:p>
            <a:pPr>
              <a:lnSpc>
                <a:spcPts val="3780"/>
              </a:lnSpc>
              <a:spcBef>
                <a:spcPts val="0"/>
              </a:spcBef>
              <a:spcAft>
                <a:spcPts val="0"/>
              </a:spcAft>
            </a:pPr>
            <a:r>
              <a:rPr lang="en-US" sz="3150" b="1">
                <a:solidFill>
                  <a:srgbClr val="EEF6FF"/>
                </a:solidFill>
                <a:latin typeface="Arial"/>
              </a:rPr>
              <a:t>What did we build and verify?</a:t>
            </a:r>
            <a:endParaRPr lang="en-US" sz="3150"/>
          </a:p>
        </p:txBody>
      </p:sp>
      <p:sp>
        <p:nvSpPr>
          <p:cNvPr id="5" name="Text 5"/>
          <p:cNvSpPr txBox="1"/>
          <p:nvPr/>
        </p:nvSpPr>
        <p:spPr>
          <a:xfrm>
            <a:off x="609600" y="1695450"/>
            <a:ext cx="10972800" cy="552450"/>
          </a:xfrm>
          <a:prstGeom prst="rect">
            <a:avLst/>
          </a:prstGeom>
          <a:noFill/>
          <a:ln>
            <a:noFill/>
          </a:ln>
        </p:spPr>
        <p:txBody>
          <a:bodyPr wrap="none" lIns="0" tIns="0" rIns="0" bIns="0" anchor="t">
            <a:noAutofit/>
          </a:bodyPr>
          <a:lstStyle/>
          <a:p>
            <a:pPr>
              <a:lnSpc>
                <a:spcPts val="2070"/>
              </a:lnSpc>
              <a:spcBef>
                <a:spcPts val="0"/>
              </a:spcBef>
              <a:spcAft>
                <a:spcPts val="0"/>
              </a:spcAft>
            </a:pPr>
            <a:r>
              <a:rPr lang="en-US" sz="1725" b="0">
                <a:solidFill>
                  <a:srgbClr val="A7BBD0"/>
                </a:solidFill>
                <a:latin typeface="Arial"/>
              </a:rPr>
              <a:t>SubnetScope connects networking theory to a working, understandable project.</a:t>
            </a:r>
            <a:endParaRPr lang="en-US" sz="1725"/>
          </a:p>
        </p:txBody>
      </p:sp>
      <p:cxnSp>
        <p:nvCxnSpPr>
          <p:cNvPr id="6" name="Connection 6"/>
          <p:cNvCxnSpPr/>
          <p:nvPr/>
        </p:nvCxnSpPr>
        <p:spPr>
          <a:xfrm>
            <a:off x="609600" y="6343650"/>
            <a:ext cx="10972800" cy="1"/>
          </a:xfrm>
          <a:prstGeom prst="line">
            <a:avLst/>
          </a:prstGeom>
          <a:ln w="19050">
            <a:solidFill>
              <a:srgbClr val="244059"/>
            </a:solidFill>
          </a:ln>
        </p:spPr>
      </p:cxnSp>
      <p:sp>
        <p:nvSpPr>
          <p:cNvPr id="7" name="Text 7"/>
          <p:cNvSpPr txBox="1"/>
          <p:nvPr/>
        </p:nvSpPr>
        <p:spPr>
          <a:xfrm>
            <a:off x="609600" y="6496050"/>
            <a:ext cx="9048750" cy="190500"/>
          </a:xfrm>
          <a:prstGeom prst="rect">
            <a:avLst/>
          </a:prstGeom>
          <a:noFill/>
          <a:ln>
            <a:noFill/>
          </a:ln>
        </p:spPr>
        <p:txBody>
          <a:bodyPr wrap="none" lIns="0" tIns="0" rIns="0" bIns="0" anchor="t">
            <a:noAutofit/>
          </a:bodyPr>
          <a:lstStyle/>
          <a:p>
            <a:pPr>
              <a:lnSpc>
                <a:spcPts val="1260"/>
              </a:lnSpc>
              <a:spcBef>
                <a:spcPts val="0"/>
              </a:spcBef>
              <a:spcAft>
                <a:spcPts val="0"/>
              </a:spcAft>
            </a:pPr>
            <a:r>
              <a:rPr lang="en-US" sz="1050" b="0">
                <a:solidFill>
                  <a:srgbClr val="A7BBD0"/>
                </a:solidFill>
                <a:latin typeface="Arial"/>
              </a:rPr>
              <a:t>Automated Subnet Reconnaissance and Port Status Profiling</a:t>
            </a:r>
            <a:endParaRPr lang="en-US" sz="1050"/>
          </a:p>
        </p:txBody>
      </p:sp>
      <p:sp>
        <p:nvSpPr>
          <p:cNvPr id="8" name="Text 8"/>
          <p:cNvSpPr txBox="1"/>
          <p:nvPr/>
        </p:nvSpPr>
        <p:spPr>
          <a:xfrm>
            <a:off x="10810875" y="6477000"/>
            <a:ext cx="771525" cy="228600"/>
          </a:xfrm>
          <a:prstGeom prst="rect">
            <a:avLst/>
          </a:prstGeom>
          <a:noFill/>
          <a:ln>
            <a:noFill/>
          </a:ln>
        </p:spPr>
        <p:txBody>
          <a:bodyPr wrap="none" lIns="0" tIns="0" rIns="0" bIns="0" anchor="t">
            <a:noAutofit/>
          </a:bodyPr>
          <a:lstStyle/>
          <a:p>
            <a:pPr>
              <a:lnSpc>
                <a:spcPts val="1440"/>
              </a:lnSpc>
              <a:spcBef>
                <a:spcPts val="0"/>
              </a:spcBef>
              <a:spcAft>
                <a:spcPts val="0"/>
              </a:spcAft>
            </a:pPr>
            <a:r>
              <a:rPr lang="en-US" sz="1200" b="0">
                <a:solidFill>
                  <a:srgbClr val="53DEEA"/>
                </a:solidFill>
                <a:latin typeface="Arial"/>
              </a:rPr>
              <a:t>12 / 12</a:t>
            </a:r>
            <a:endParaRPr lang="en-US" sz="1200"/>
          </a:p>
        </p:txBody>
      </p:sp>
      <p:sp>
        <p:nvSpPr>
          <p:cNvPr id="9" name="Shape 9"/>
          <p:cNvSpPr/>
          <p:nvPr/>
        </p:nvSpPr>
        <p:spPr>
          <a:xfrm>
            <a:off x="609600" y="2409825"/>
            <a:ext cx="3371850" cy="1743075"/>
          </a:xfrm>
          <a:prstGeom prst="roundRect">
            <a:avLst/>
          </a:prstGeom>
          <a:solidFill>
            <a:srgbClr val="102236"/>
          </a:solidFill>
          <a:ln>
            <a:noFill/>
          </a:ln>
        </p:spPr>
      </p:sp>
      <p:sp>
        <p:nvSpPr>
          <p:cNvPr id="10" name="Text 10"/>
          <p:cNvSpPr txBox="1"/>
          <p:nvPr/>
        </p:nvSpPr>
        <p:spPr>
          <a:xfrm>
            <a:off x="838200" y="2628900"/>
            <a:ext cx="291465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65D7AA"/>
                </a:solidFill>
                <a:latin typeface="Arial"/>
              </a:rPr>
              <a:t>24 tests passed</a:t>
            </a:r>
            <a:endParaRPr lang="en-US" sz="2025"/>
          </a:p>
        </p:txBody>
      </p:sp>
      <p:sp>
        <p:nvSpPr>
          <p:cNvPr id="11" name="Text 11"/>
          <p:cNvSpPr txBox="1"/>
          <p:nvPr/>
        </p:nvSpPr>
        <p:spPr>
          <a:xfrm>
            <a:off x="838200" y="3228975"/>
            <a:ext cx="2914650" cy="79057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Subnet boundaries,</a:t>
            </a:r>
            <a:endParaRPr lang="en-US" sz="1800"/>
          </a:p>
          <a:p>
            <a:pPr>
              <a:lnSpc>
                <a:spcPts val="2160"/>
              </a:lnSpc>
              <a:spcBef>
                <a:spcPts val="0"/>
              </a:spcBef>
              <a:spcAft>
                <a:spcPts val="0"/>
              </a:spcAft>
            </a:pPr>
            <a:r>
              <a:rPr lang="en-US" sz="1800" b="0">
                <a:solidFill>
                  <a:srgbClr val="EEF6FF"/>
                </a:solidFill>
                <a:latin typeface="Arial"/>
              </a:rPr>
              <a:t>validation and CLI safety.</a:t>
            </a:r>
            <a:endParaRPr lang="en-US" sz="1800"/>
          </a:p>
        </p:txBody>
      </p:sp>
      <p:sp>
        <p:nvSpPr>
          <p:cNvPr id="12" name="Shape 12"/>
          <p:cNvSpPr/>
          <p:nvPr/>
        </p:nvSpPr>
        <p:spPr>
          <a:xfrm>
            <a:off x="4267200" y="2409825"/>
            <a:ext cx="3371850" cy="1743075"/>
          </a:xfrm>
          <a:prstGeom prst="roundRect">
            <a:avLst/>
          </a:prstGeom>
          <a:solidFill>
            <a:srgbClr val="102236"/>
          </a:solidFill>
          <a:ln>
            <a:noFill/>
          </a:ln>
        </p:spPr>
      </p:sp>
      <p:sp>
        <p:nvSpPr>
          <p:cNvPr id="13" name="Text 13"/>
          <p:cNvSpPr txBox="1"/>
          <p:nvPr/>
        </p:nvSpPr>
        <p:spPr>
          <a:xfrm>
            <a:off x="4495800" y="2628900"/>
            <a:ext cx="291465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65D7AA"/>
                </a:solidFill>
                <a:latin typeface="Arial"/>
              </a:rPr>
              <a:t>13 browser groups</a:t>
            </a:r>
            <a:endParaRPr lang="en-US" sz="2025"/>
          </a:p>
        </p:txBody>
      </p:sp>
      <p:sp>
        <p:nvSpPr>
          <p:cNvPr id="14" name="Text 14"/>
          <p:cNvSpPr txBox="1"/>
          <p:nvPr/>
        </p:nvSpPr>
        <p:spPr>
          <a:xfrm>
            <a:off x="4495800" y="3228975"/>
            <a:ext cx="2914650" cy="79057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Core journeys, responsive</a:t>
            </a:r>
            <a:endParaRPr lang="en-US" sz="1800"/>
          </a:p>
          <a:p>
            <a:pPr>
              <a:lnSpc>
                <a:spcPts val="2160"/>
              </a:lnSpc>
              <a:spcBef>
                <a:spcPts val="0"/>
              </a:spcBef>
              <a:spcAft>
                <a:spcPts val="0"/>
              </a:spcAft>
            </a:pPr>
            <a:r>
              <a:rPr lang="en-US" sz="1800" b="0">
                <a:solidFill>
                  <a:srgbClr val="EEF6FF"/>
                </a:solidFill>
                <a:latin typeface="Arial"/>
              </a:rPr>
              <a:t>layouts and WebGL fallback.</a:t>
            </a:r>
            <a:endParaRPr lang="en-US" sz="1800"/>
          </a:p>
        </p:txBody>
      </p:sp>
      <p:sp>
        <p:nvSpPr>
          <p:cNvPr id="15" name="Shape 15"/>
          <p:cNvSpPr/>
          <p:nvPr/>
        </p:nvSpPr>
        <p:spPr>
          <a:xfrm>
            <a:off x="7924800" y="2409825"/>
            <a:ext cx="3657600" cy="1743075"/>
          </a:xfrm>
          <a:prstGeom prst="roundRect">
            <a:avLst/>
          </a:prstGeom>
          <a:solidFill>
            <a:srgbClr val="102236"/>
          </a:solidFill>
          <a:ln>
            <a:noFill/>
          </a:ln>
        </p:spPr>
      </p:sp>
      <p:sp>
        <p:nvSpPr>
          <p:cNvPr id="16" name="Text 16"/>
          <p:cNvSpPr txBox="1"/>
          <p:nvPr/>
        </p:nvSpPr>
        <p:spPr>
          <a:xfrm>
            <a:off x="8153400" y="2628900"/>
            <a:ext cx="3200400" cy="476250"/>
          </a:xfrm>
          <a:prstGeom prst="rect">
            <a:avLst/>
          </a:prstGeom>
          <a:noFill/>
          <a:ln>
            <a:noFill/>
          </a:ln>
        </p:spPr>
        <p:txBody>
          <a:bodyPr wrap="none" lIns="0" tIns="0" rIns="0" bIns="0" anchor="t">
            <a:noAutofit/>
          </a:bodyPr>
          <a:lstStyle/>
          <a:p>
            <a:pPr>
              <a:lnSpc>
                <a:spcPts val="2430"/>
              </a:lnSpc>
              <a:spcBef>
                <a:spcPts val="0"/>
              </a:spcBef>
              <a:spcAft>
                <a:spcPts val="0"/>
              </a:spcAft>
            </a:pPr>
            <a:r>
              <a:rPr lang="en-US" sz="2025" b="1">
                <a:solidFill>
                  <a:srgbClr val="65D7AA"/>
                </a:solidFill>
                <a:latin typeface="Arial"/>
              </a:rPr>
              <a:t>Build checks passed</a:t>
            </a:r>
            <a:endParaRPr lang="en-US" sz="2025"/>
          </a:p>
        </p:txBody>
      </p:sp>
      <p:sp>
        <p:nvSpPr>
          <p:cNvPr id="17" name="Text 17"/>
          <p:cNvSpPr txBox="1"/>
          <p:nvPr/>
        </p:nvSpPr>
        <p:spPr>
          <a:xfrm>
            <a:off x="8153400" y="3228975"/>
            <a:ext cx="3200400" cy="790575"/>
          </a:xfrm>
          <a:prstGeom prst="rect">
            <a:avLst/>
          </a:prstGeom>
          <a:noFill/>
          <a:ln>
            <a:noFill/>
          </a:ln>
        </p:spPr>
        <p:txBody>
          <a:bodyPr wrap="none" lIns="0" tIns="0" rIns="0" bIns="0" anchor="t">
            <a:noAutofit/>
          </a:bodyPr>
          <a:lstStyle/>
          <a:p>
            <a:pPr>
              <a:lnSpc>
                <a:spcPts val="2160"/>
              </a:lnSpc>
              <a:spcBef>
                <a:spcPts val="0"/>
              </a:spcBef>
              <a:spcAft>
                <a:spcPts val="0"/>
              </a:spcAft>
            </a:pPr>
            <a:r>
              <a:rPr lang="en-US" sz="1800" b="0">
                <a:solidFill>
                  <a:srgbClr val="EEF6FF"/>
                </a:solidFill>
                <a:latin typeface="Arial"/>
              </a:rPr>
              <a:t>Lint, strict TypeScript,</a:t>
            </a:r>
            <a:endParaRPr lang="en-US" sz="1800"/>
          </a:p>
          <a:p>
            <a:pPr>
              <a:lnSpc>
                <a:spcPts val="2160"/>
              </a:lnSpc>
              <a:spcBef>
                <a:spcPts val="0"/>
              </a:spcBef>
              <a:spcAft>
                <a:spcPts val="0"/>
              </a:spcAft>
            </a:pPr>
            <a:r>
              <a:rPr lang="en-US" sz="1800" b="0">
                <a:solidFill>
                  <a:srgbClr val="EEF6FF"/>
                </a:solidFill>
                <a:latin typeface="Arial"/>
              </a:rPr>
              <a:t>production build.</a:t>
            </a:r>
            <a:endParaRPr lang="en-US" sz="1800"/>
          </a:p>
        </p:txBody>
      </p:sp>
      <p:sp>
        <p:nvSpPr>
          <p:cNvPr id="18" name="Text 18"/>
          <p:cNvSpPr txBox="1"/>
          <p:nvPr/>
        </p:nvSpPr>
        <p:spPr>
          <a:xfrm>
            <a:off x="609600" y="4467225"/>
            <a:ext cx="10972800" cy="647700"/>
          </a:xfrm>
          <a:prstGeom prst="rect">
            <a:avLst/>
          </a:prstGeom>
          <a:noFill/>
          <a:ln>
            <a:noFill/>
          </a:ln>
        </p:spPr>
        <p:txBody>
          <a:bodyPr wrap="none" lIns="0" tIns="0" rIns="0" bIns="0" anchor="t">
            <a:noAutofit/>
          </a:bodyPr>
          <a:lstStyle/>
          <a:p>
            <a:pPr>
              <a:lnSpc>
                <a:spcPts val="2250"/>
              </a:lnSpc>
              <a:spcBef>
                <a:spcPts val="0"/>
              </a:spcBef>
              <a:spcAft>
                <a:spcPts val="0"/>
              </a:spcAft>
            </a:pPr>
            <a:r>
              <a:rPr lang="en-US" sz="1875" b="0">
                <a:solidFill>
                  <a:srgbClr val="A7BBD0"/>
                </a:solidFill>
                <a:latin typeface="Arial"/>
              </a:rPr>
              <a:t>Limits: no response is inconclusive; a port suggests a service;</a:t>
            </a:r>
            <a:endParaRPr lang="en-US" sz="1875"/>
          </a:p>
          <a:p>
            <a:pPr>
              <a:lnSpc>
                <a:spcPts val="2250"/>
              </a:lnSpc>
              <a:spcBef>
                <a:spcPts val="0"/>
              </a:spcBef>
              <a:spcAft>
                <a:spcPts val="0"/>
              </a:spcAft>
            </a:pPr>
            <a:r>
              <a:rPr lang="en-US" sz="1875" b="0">
                <a:solidFill>
                  <a:srgbClr val="A7BBD0"/>
                </a:solidFill>
                <a:latin typeface="Arial"/>
              </a:rPr>
              <a:t>an open connection does not establish that a service is secure.</a:t>
            </a:r>
            <a:endParaRPr lang="en-US" sz="1875"/>
          </a:p>
        </p:txBody>
      </p:sp>
      <p:sp>
        <p:nvSpPr>
          <p:cNvPr id="19" name="Shape 19"/>
          <p:cNvSpPr/>
          <p:nvPr/>
        </p:nvSpPr>
        <p:spPr>
          <a:xfrm>
            <a:off x="609600" y="5657850"/>
            <a:ext cx="10972800" cy="457200"/>
          </a:xfrm>
          <a:prstGeom prst="roundRect">
            <a:avLst/>
          </a:prstGeom>
          <a:solidFill>
            <a:srgbClr val="122E40"/>
          </a:solidFill>
          <a:ln>
            <a:noFill/>
          </a:ln>
        </p:spPr>
      </p:sp>
      <p:sp>
        <p:nvSpPr>
          <p:cNvPr id="20" name="Text 20"/>
          <p:cNvSpPr txBox="1"/>
          <p:nvPr/>
        </p:nvSpPr>
        <p:spPr>
          <a:xfrm>
            <a:off x="781050" y="5753100"/>
            <a:ext cx="10629900" cy="285750"/>
          </a:xfrm>
          <a:prstGeom prst="rect">
            <a:avLst/>
          </a:prstGeom>
          <a:noFill/>
          <a:ln>
            <a:noFill/>
          </a:ln>
        </p:spPr>
        <p:txBody>
          <a:bodyPr wrap="none" lIns="0" tIns="0" rIns="0" bIns="0" anchor="t">
            <a:noAutofit/>
          </a:bodyPr>
          <a:lstStyle/>
          <a:p>
            <a:pPr>
              <a:lnSpc>
                <a:spcPts val="1890"/>
              </a:lnSpc>
              <a:spcBef>
                <a:spcPts val="0"/>
              </a:spcBef>
              <a:spcAft>
                <a:spcPts val="0"/>
              </a:spcAft>
            </a:pPr>
            <a:r>
              <a:rPr lang="en-US" sz="1575" b="0">
                <a:solidFill>
                  <a:srgbClr val="53DEEA"/>
                </a:solidFill>
                <a:latin typeface="Arial"/>
              </a:rPr>
              <a:t>Conclusion: calculate accurately, test only authorized targets, and interpret the evidence carefully.</a:t>
            </a:r>
            <a:endParaRPr lang="en-US" sz="1575"/>
          </a:p>
        </p:txBody>
      </p:sp>
    </p:spTree>
  </p:cSld>
  <p:clrMapOvr>
    <a:masterClrMapping/>
  </p:clrMapOvr>
</p:sld>
</file>

<file path=ppt/theme/theme1.xml><?xml version="1.0" encoding="utf-8"?>
<a:theme xmlns:a="http://schemas.openxmlformats.org/drawingml/2006/main" name="SubnetScope">
  <a:themeElements>
    <a:clrScheme name="SubnetScope">
      <a:dk1>
        <a:srgbClr val="081321"/>
      </a:dk1>
      <a:lt1>
        <a:srgbClr val="EEF6FF"/>
      </a:lt1>
      <a:dk2>
        <a:srgbClr val="102236"/>
      </a:dk2>
      <a:lt2>
        <a:srgbClr val="A7BBD0"/>
      </a:lt2>
      <a:accent1>
        <a:srgbClr val="53DEEA"/>
      </a:accent1>
      <a:accent2>
        <a:srgbClr val="AFA3FF"/>
      </a:accent2>
      <a:accent3>
        <a:srgbClr val="65D7AA"/>
      </a:accent3>
      <a:accent4>
        <a:srgbClr val="F1C873"/>
      </a:accent4>
      <a:accent5>
        <a:srgbClr val="F0999E"/>
      </a:accent5>
      <a:accent6>
        <a:srgbClr val="244059"/>
      </a:accent6>
      <a:hlink>
        <a:srgbClr val="53DEEA"/>
      </a:hlink>
      <a:folHlink>
        <a:srgbClr val="AFA3FF"/>
      </a:folHlink>
    </a:clrScheme>
    <a:fontScheme name="Arial">
      <a:majorFont>
        <a:latin typeface="Arial"/>
        <a:ea typeface=""/>
        <a:cs typeface=""/>
      </a:majorFont>
      <a:minorFont>
        <a:latin typeface="Arial"/>
        <a:ea typeface=""/>
        <a:cs typeface=""/>
      </a:minorFont>
    </a:fontScheme>
    <a:fmtScheme name="SubnetScope">
      <a:fillStyleLst>
        <a:solidFill>
          <a:srgbClr val="102236"/>
        </a:solidFill>
        <a:solidFill>
          <a:srgbClr val="102236"/>
        </a:solidFill>
        <a:solidFill>
          <a:srgbClr val="102236"/>
        </a:solidFill>
      </a:fillStyleLst>
      <a:lnStyleLst>
        <a:ln w="12700">
          <a:solidFill>
            <a:srgbClr val="244059"/>
          </a:solidFill>
          <a:prstDash val="solid"/>
        </a:ln>
        <a:ln w="12700">
          <a:solidFill>
            <a:srgbClr val="244059"/>
          </a:solidFill>
          <a:prstDash val="solid"/>
        </a:ln>
        <a:ln w="12700">
          <a:solidFill>
            <a:srgbClr val="244059"/>
          </a:solidFill>
          <a:prstDash val="solid"/>
        </a:ln>
      </a:lnStyleLst>
      <a:effectStyleLst>
        <a:effectStyle>
          <a:effectLst/>
        </a:effectStyle>
        <a:effectStyle>
          <a:effectLst/>
        </a:effectStyle>
        <a:effectStyle>
          <a:effectLst/>
        </a:effectStyle>
      </a:effectStyleLst>
      <a:bgFillStyleLst>
        <a:solidFill>
          <a:srgbClr val="102236"/>
        </a:solidFill>
        <a:solidFill>
          <a:srgbClr val="102236"/>
        </a:solidFill>
        <a:solidFill>
          <a:srgbClr val="102236"/>
        </a:soli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2318</Words>
  <Application>Microsoft Office PowerPoint</Application>
  <PresentationFormat>Widescreen</PresentationFormat>
  <Paragraphs>238</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Consolas</vt:lpstr>
      <vt:lpstr>SubnetScope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SubnetScope — Computer Networks Project</dc:title>
  <dc:subject>Automated Subnet Reconnaissance and Port Status Profiling</dc:subject>
  <dc:creator>SubnetScope Project</dc:creator>
  <dc:description>12 educational slides with speaker notes. Website port results are simulated.</dc:description>
  <cp:lastModifiedBy>K. Thanuj Sai Brahma</cp:lastModifiedBy>
  <cp:revision>2</cp:revision>
  <dcterms:modified xsi:type="dcterms:W3CDTF">2026-10-15T05:27:08Z</dcterms:modified>
</cp:coreProperties>
</file>